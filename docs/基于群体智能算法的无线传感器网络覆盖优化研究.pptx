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rotWithShape="1" flip="none">
          <a:gsLst>
            <a:gs pos="0">
              <a:srgbClr val="0F2D52"/>
            </a:gs>
            <a:gs pos="50000">
              <a:srgbClr val="1B4F8F"/>
            </a:gs>
            <a:gs pos="100000">
              <a:srgbClr val="2A6DB5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0" y="-1016000"/>
            <a:ext cx="3556000" cy="3556000"/>
          </a:xfrm>
          <a:prstGeom prst="donut">
            <a:avLst>
              <a:gd name="adj" fmla="val 15000"/>
            </a:avLst>
          </a:prstGeom>
          <a:solidFill>
            <a:srgbClr val="FFFFFF">
              <a:alpha val="3137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62000" y="6604000"/>
            <a:ext cx="2540000" cy="2540000"/>
          </a:xfrm>
          <a:prstGeom prst="donut">
            <a:avLst>
              <a:gd name="adj" fmla="val 12000"/>
            </a:avLst>
          </a:prstGeom>
          <a:solidFill>
            <a:srgbClr val="FFFFFF">
              <a:alpha val="3137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970000" y="4826000"/>
            <a:ext cx="152400" cy="152400"/>
          </a:xfrm>
          <a:prstGeom prst="ellipse">
            <a:avLst/>
          </a:prstGeom>
          <a:solidFill>
            <a:srgbClr val="FFFFFF">
              <a:alpha val="12549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4351000" y="5207000"/>
            <a:ext cx="101600" cy="101600"/>
          </a:xfrm>
          <a:prstGeom prst="ellipse">
            <a:avLst/>
          </a:prstGeom>
          <a:solidFill>
            <a:srgbClr val="FFFFFF">
              <a:alpha val="9412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4732000" y="4699000"/>
            <a:ext cx="127000" cy="127000"/>
          </a:xfrm>
          <a:prstGeom prst="ellipse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88000" y="1968500"/>
            <a:ext cx="5080000" cy="381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2286000"/>
            <a:ext cx="137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基于群体智能算法的无线传感器网络覆盖优化研究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270000" y="3238500"/>
            <a:ext cx="1371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00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Coverage Optimization of Wireless Sensor Networks Based on Swarm Intelligence Algorithms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588000" y="3937000"/>
            <a:ext cx="5080000" cy="254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270000" y="4318000"/>
            <a:ext cx="137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课程：群体智能　|　指导老师：金博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70000" y="4889500"/>
            <a:ext cx="137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小组成员：李杜若、王奕博、韦世贸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70000" y="5461000"/>
            <a:ext cx="1371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 年 6 月 18 日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B4F8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研究背景与问题提出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WSN覆盖模型设计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群体智能算法设计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7536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实验结果与可视化分析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0048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总结展望与团队分工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558800"/>
            <a:ext cx="3251200" cy="50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8128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目录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371600"/>
            <a:ext cx="14732000" cy="254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1778000"/>
            <a:ext cx="2743200" cy="63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5098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62000" y="2159000"/>
            <a:ext cx="27432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4800" dirty="0"/>
          </a:p>
        </p:txBody>
      </p:sp>
      <p:sp>
        <p:nvSpPr>
          <p:cNvPr id="13" name="Shape 11"/>
          <p:cNvSpPr/>
          <p:nvPr/>
        </p:nvSpPr>
        <p:spPr>
          <a:xfrm>
            <a:off x="1270000" y="3048000"/>
            <a:ext cx="1727200" cy="25400"/>
          </a:xfrm>
          <a:prstGeom prst="rect">
            <a:avLst/>
          </a:prstGeom>
          <a:solidFill>
            <a:srgbClr val="1B4F8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302000"/>
            <a:ext cx="24384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研究背景与问题提出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4318000"/>
            <a:ext cx="2438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3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WSN应用场景</a:t>
            </a:r>
            <a:endParaRPr lang="en-US" sz="1300" dirty="0"/>
          </a:p>
          <a:p>
            <a:pPr algn="ctr">
              <a:lnSpc>
                <a:spcPct val="160000"/>
              </a:lnSpc>
            </a:pPr>
            <a:r>
              <a:rPr lang="en-US" sz="13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覆盖优化必要性</a:t>
            </a:r>
            <a:endParaRPr lang="en-US" sz="1300" dirty="0"/>
          </a:p>
          <a:p>
            <a:pPr algn="ctr">
              <a:lnSpc>
                <a:spcPct val="160000"/>
              </a:lnSpc>
            </a:pPr>
            <a:r>
              <a:rPr lang="en-US" sz="13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三大核心问题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59200" y="1778000"/>
            <a:ext cx="2743200" cy="63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5098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59200" y="2159000"/>
            <a:ext cx="27432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4800" dirty="0"/>
          </a:p>
        </p:txBody>
      </p:sp>
      <p:sp>
        <p:nvSpPr>
          <p:cNvPr id="18" name="Shape 16"/>
          <p:cNvSpPr/>
          <p:nvPr/>
        </p:nvSpPr>
        <p:spPr>
          <a:xfrm>
            <a:off x="4267200" y="3048000"/>
            <a:ext cx="1727200" cy="25400"/>
          </a:xfrm>
          <a:prstGeom prst="rect">
            <a:avLst/>
          </a:prstGeom>
          <a:solidFill>
            <a:srgbClr val="1B4F8F"/>
          </a:solidFill>
          <a:ln/>
        </p:spPr>
      </p:sp>
      <p:sp>
        <p:nvSpPr>
          <p:cNvPr id="19" name="Text 17"/>
          <p:cNvSpPr/>
          <p:nvPr/>
        </p:nvSpPr>
        <p:spPr>
          <a:xfrm>
            <a:off x="3911600" y="3302000"/>
            <a:ext cx="24384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WSN覆盖模型设计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911600" y="4318000"/>
            <a:ext cx="2438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3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网格化监测区域</a:t>
            </a:r>
            <a:endParaRPr lang="en-US" sz="1300" dirty="0"/>
          </a:p>
          <a:p>
            <a:pPr algn="ctr">
              <a:lnSpc>
                <a:spcPct val="160000"/>
              </a:lnSpc>
            </a:pPr>
            <a:r>
              <a:rPr lang="en-US" sz="13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二元感知模型</a:t>
            </a:r>
            <a:endParaRPr lang="en-US" sz="1300" dirty="0"/>
          </a:p>
          <a:p>
            <a:pPr algn="ctr">
              <a:lnSpc>
                <a:spcPct val="160000"/>
              </a:lnSpc>
            </a:pPr>
            <a:r>
              <a:rPr lang="en-US" sz="13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适应度函数设计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756400" y="1778000"/>
            <a:ext cx="2743200" cy="63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5098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756400" y="2159000"/>
            <a:ext cx="27432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4800" dirty="0"/>
          </a:p>
        </p:txBody>
      </p:sp>
      <p:sp>
        <p:nvSpPr>
          <p:cNvPr id="23" name="Shape 21"/>
          <p:cNvSpPr/>
          <p:nvPr/>
        </p:nvSpPr>
        <p:spPr>
          <a:xfrm>
            <a:off x="7264400" y="3048000"/>
            <a:ext cx="1727200" cy="25400"/>
          </a:xfrm>
          <a:prstGeom prst="rect">
            <a:avLst/>
          </a:prstGeom>
          <a:solidFill>
            <a:srgbClr val="1B4F8F"/>
          </a:solidFill>
          <a:ln/>
        </p:spPr>
      </p:sp>
      <p:sp>
        <p:nvSpPr>
          <p:cNvPr id="24" name="Text 22"/>
          <p:cNvSpPr/>
          <p:nvPr/>
        </p:nvSpPr>
        <p:spPr>
          <a:xfrm>
            <a:off x="6908800" y="3302000"/>
            <a:ext cx="24384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群体智能算法设计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08800" y="4318000"/>
            <a:ext cx="2438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3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PSO / GWO / WOA</a:t>
            </a:r>
            <a:endParaRPr lang="en-US" sz="1300" dirty="0"/>
          </a:p>
          <a:p>
            <a:pPr algn="ctr">
              <a:lnSpc>
                <a:spcPct val="160000"/>
              </a:lnSpc>
            </a:pPr>
            <a:r>
              <a:rPr lang="en-US" sz="13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改进策略实现</a:t>
            </a:r>
            <a:endParaRPr lang="en-US" sz="1300" dirty="0"/>
          </a:p>
          <a:p>
            <a:pPr algn="ctr">
              <a:lnSpc>
                <a:spcPct val="160000"/>
              </a:lnSpc>
            </a:pPr>
            <a:r>
              <a:rPr lang="en-US" sz="13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算法对比分析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753600" y="1778000"/>
            <a:ext cx="2743200" cy="63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5098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753600" y="2159000"/>
            <a:ext cx="27432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4800" dirty="0"/>
          </a:p>
        </p:txBody>
      </p:sp>
      <p:sp>
        <p:nvSpPr>
          <p:cNvPr id="28" name="Shape 26"/>
          <p:cNvSpPr/>
          <p:nvPr/>
        </p:nvSpPr>
        <p:spPr>
          <a:xfrm>
            <a:off x="10261600" y="3048000"/>
            <a:ext cx="1727200" cy="25400"/>
          </a:xfrm>
          <a:prstGeom prst="rect">
            <a:avLst/>
          </a:prstGeom>
          <a:solidFill>
            <a:srgbClr val="1B4F8F"/>
          </a:solidFill>
          <a:ln/>
        </p:spPr>
      </p:sp>
      <p:sp>
        <p:nvSpPr>
          <p:cNvPr id="29" name="Text 27"/>
          <p:cNvSpPr/>
          <p:nvPr/>
        </p:nvSpPr>
        <p:spPr>
          <a:xfrm>
            <a:off x="9906000" y="3302000"/>
            <a:ext cx="24384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实验结果与可视化分析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906000" y="4318000"/>
            <a:ext cx="2438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3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三类场景实验</a:t>
            </a:r>
            <a:endParaRPr lang="en-US" sz="1300" dirty="0"/>
          </a:p>
          <a:p>
            <a:pPr algn="ctr">
              <a:lnSpc>
                <a:spcPct val="160000"/>
              </a:lnSpc>
            </a:pPr>
            <a:r>
              <a:rPr lang="en-US" sz="13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覆盖率对比</a:t>
            </a:r>
            <a:endParaRPr lang="en-US" sz="1300" dirty="0"/>
          </a:p>
          <a:p>
            <a:pPr algn="ctr">
              <a:lnSpc>
                <a:spcPct val="160000"/>
              </a:lnSpc>
            </a:pPr>
            <a:r>
              <a:rPr lang="en-US" sz="13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收敛性与稳定性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2750800" y="1778000"/>
            <a:ext cx="2743200" cy="63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5098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2750800" y="2159000"/>
            <a:ext cx="27432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4800" dirty="0"/>
          </a:p>
        </p:txBody>
      </p:sp>
      <p:sp>
        <p:nvSpPr>
          <p:cNvPr id="33" name="Shape 31"/>
          <p:cNvSpPr/>
          <p:nvPr/>
        </p:nvSpPr>
        <p:spPr>
          <a:xfrm>
            <a:off x="13258800" y="3048000"/>
            <a:ext cx="1727200" cy="25400"/>
          </a:xfrm>
          <a:prstGeom prst="rect">
            <a:avLst/>
          </a:prstGeom>
          <a:solidFill>
            <a:srgbClr val="1B4F8F"/>
          </a:solidFill>
          <a:ln/>
        </p:spPr>
      </p:sp>
      <p:sp>
        <p:nvSpPr>
          <p:cNvPr id="34" name="Text 32"/>
          <p:cNvSpPr/>
          <p:nvPr/>
        </p:nvSpPr>
        <p:spPr>
          <a:xfrm>
            <a:off x="12903200" y="3302000"/>
            <a:ext cx="24384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总结展望与团队分工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2903200" y="4318000"/>
            <a:ext cx="2438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3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项目成果总结</a:t>
            </a:r>
            <a:endParaRPr lang="en-US" sz="1300" dirty="0"/>
          </a:p>
          <a:p>
            <a:pPr algn="ctr">
              <a:lnSpc>
                <a:spcPct val="160000"/>
              </a:lnSpc>
            </a:pPr>
            <a:r>
              <a:rPr lang="en-US" sz="13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团队分工说明</a:t>
            </a:r>
            <a:endParaRPr lang="en-US" sz="1300" dirty="0"/>
          </a:p>
          <a:p>
            <a:pPr algn="ctr">
              <a:lnSpc>
                <a:spcPct val="160000"/>
              </a:lnSpc>
            </a:pPr>
            <a:r>
              <a:rPr lang="en-US" sz="13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未来研究方向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62000" y="87884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群体智能课程项目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3970000" y="87884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/ 16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B4F8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研究背景与问题提出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WSN覆盖模型设计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群体智能算法设计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7536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实验结果与可视化分析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0048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总结展望与团队分工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558800"/>
            <a:ext cx="3251200" cy="50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7620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研究背景：为什么要做 WSN 覆盖优化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1524000"/>
            <a:ext cx="3429000" cy="2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922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16000" y="1752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28575"/>
                </a:moveTo>
                <a:cubicBezTo>
                  <a:pt x="457200" y="125105"/>
                  <a:pt x="388799" y="205651"/>
                  <a:pt x="297894" y="224492"/>
                </a:cubicBezTo>
                <a:cubicBezTo>
                  <a:pt x="290840" y="172611"/>
                  <a:pt x="267533" y="125909"/>
                  <a:pt x="233154" y="89743"/>
                </a:cubicBezTo>
                <a:cubicBezTo>
                  <a:pt x="268962" y="35719"/>
                  <a:pt x="330309" y="0"/>
                  <a:pt x="400050" y="0"/>
                </a:cubicBezTo>
                <a:lnTo>
                  <a:pt x="428625" y="0"/>
                </a:lnTo>
                <a:cubicBezTo>
                  <a:pt x="444431" y="0"/>
                  <a:pt x="457200" y="12769"/>
                  <a:pt x="457200" y="28575"/>
                </a:cubicBezTo>
                <a:close/>
                <a:moveTo>
                  <a:pt x="0" y="85725"/>
                </a:moveTo>
                <a:cubicBezTo>
                  <a:pt x="0" y="69919"/>
                  <a:pt x="12769" y="57150"/>
                  <a:pt x="28575" y="57150"/>
                </a:cubicBezTo>
                <a:lnTo>
                  <a:pt x="57150" y="57150"/>
                </a:lnTo>
                <a:cubicBezTo>
                  <a:pt x="167610" y="57150"/>
                  <a:pt x="257175" y="146715"/>
                  <a:pt x="257175" y="257175"/>
                </a:cubicBezTo>
                <a:lnTo>
                  <a:pt x="257175" y="428625"/>
                </a:lnTo>
                <a:cubicBezTo>
                  <a:pt x="257175" y="444431"/>
                  <a:pt x="244406" y="457200"/>
                  <a:pt x="228600" y="457200"/>
                </a:cubicBezTo>
                <a:cubicBezTo>
                  <a:pt x="212794" y="457200"/>
                  <a:pt x="200025" y="444431"/>
                  <a:pt x="200025" y="428625"/>
                </a:cubicBezTo>
                <a:lnTo>
                  <a:pt x="200025" y="285750"/>
                </a:lnTo>
                <a:cubicBezTo>
                  <a:pt x="89565" y="285750"/>
                  <a:pt x="0" y="196185"/>
                  <a:pt x="0" y="85725"/>
                </a:cubicBez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13" name="Text 11"/>
          <p:cNvSpPr/>
          <p:nvPr/>
        </p:nvSpPr>
        <p:spPr>
          <a:xfrm>
            <a:off x="1600200" y="1752600"/>
            <a:ext cx="2413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环境监测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16000" y="2336800"/>
            <a:ext cx="292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监测温度、湿度、空气质量等环境参数，广泛应用于生态保护和污染监控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45000" y="1524000"/>
            <a:ext cx="3429000" cy="2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922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99000" y="1752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63262" y="209490"/>
                </a:moveTo>
                <a:cubicBezTo>
                  <a:pt x="68183" y="205829"/>
                  <a:pt x="74930" y="206454"/>
                  <a:pt x="79216" y="211366"/>
                </a:cubicBezTo>
                <a:lnTo>
                  <a:pt x="115808" y="252532"/>
                </a:lnTo>
                <a:lnTo>
                  <a:pt x="120650" y="258514"/>
                </a:lnTo>
                <a:cubicBezTo>
                  <a:pt x="136287" y="279767"/>
                  <a:pt x="141526" y="307628"/>
                  <a:pt x="135890" y="333435"/>
                </a:cubicBezTo>
                <a:cubicBezTo>
                  <a:pt x="161052" y="326559"/>
                  <a:pt x="188436" y="334328"/>
                  <a:pt x="207804" y="356027"/>
                </a:cubicBezTo>
                <a:lnTo>
                  <a:pt x="244396" y="397193"/>
                </a:lnTo>
                <a:cubicBezTo>
                  <a:pt x="249317" y="402729"/>
                  <a:pt x="249317" y="411837"/>
                  <a:pt x="244396" y="417374"/>
                </a:cubicBezTo>
                <a:lnTo>
                  <a:pt x="238522" y="423982"/>
                </a:lnTo>
                <a:cubicBezTo>
                  <a:pt x="208756" y="457468"/>
                  <a:pt x="160496" y="457468"/>
                  <a:pt x="130731" y="423982"/>
                </a:cubicBezTo>
                <a:lnTo>
                  <a:pt x="106442" y="396746"/>
                </a:lnTo>
                <a:lnTo>
                  <a:pt x="39211" y="472380"/>
                </a:lnTo>
                <a:cubicBezTo>
                  <a:pt x="31750" y="480774"/>
                  <a:pt x="19764" y="480774"/>
                  <a:pt x="12303" y="472380"/>
                </a:cubicBezTo>
                <a:cubicBezTo>
                  <a:pt x="4842" y="463987"/>
                  <a:pt x="4842" y="450413"/>
                  <a:pt x="12303" y="442109"/>
                </a:cubicBezTo>
                <a:lnTo>
                  <a:pt x="79534" y="366474"/>
                </a:lnTo>
                <a:lnTo>
                  <a:pt x="55324" y="339239"/>
                </a:lnTo>
                <a:cubicBezTo>
                  <a:pt x="25559" y="305753"/>
                  <a:pt x="25559" y="251460"/>
                  <a:pt x="55324" y="218063"/>
                </a:cubicBezTo>
                <a:lnTo>
                  <a:pt x="61198" y="211455"/>
                </a:lnTo>
                <a:lnTo>
                  <a:pt x="63183" y="209580"/>
                </a:lnTo>
                <a:close/>
                <a:moveTo>
                  <a:pt x="145812" y="116622"/>
                </a:moveTo>
                <a:cubicBezTo>
                  <a:pt x="150733" y="112961"/>
                  <a:pt x="157480" y="113586"/>
                  <a:pt x="161766" y="118497"/>
                </a:cubicBezTo>
                <a:lnTo>
                  <a:pt x="198358" y="159663"/>
                </a:lnTo>
                <a:lnTo>
                  <a:pt x="203200" y="165646"/>
                </a:lnTo>
                <a:cubicBezTo>
                  <a:pt x="218837" y="186898"/>
                  <a:pt x="224076" y="214759"/>
                  <a:pt x="218440" y="240566"/>
                </a:cubicBezTo>
                <a:cubicBezTo>
                  <a:pt x="243602" y="233690"/>
                  <a:pt x="270986" y="241459"/>
                  <a:pt x="290354" y="263158"/>
                </a:cubicBezTo>
                <a:lnTo>
                  <a:pt x="326946" y="304324"/>
                </a:lnTo>
                <a:cubicBezTo>
                  <a:pt x="331867" y="309860"/>
                  <a:pt x="331867" y="318968"/>
                  <a:pt x="326946" y="324505"/>
                </a:cubicBezTo>
                <a:lnTo>
                  <a:pt x="321072" y="331113"/>
                </a:lnTo>
                <a:cubicBezTo>
                  <a:pt x="291306" y="364599"/>
                  <a:pt x="243046" y="364599"/>
                  <a:pt x="213281" y="331113"/>
                </a:cubicBezTo>
                <a:lnTo>
                  <a:pt x="137954" y="246370"/>
                </a:lnTo>
                <a:cubicBezTo>
                  <a:pt x="108188" y="212884"/>
                  <a:pt x="108188" y="158591"/>
                  <a:pt x="137954" y="125194"/>
                </a:cubicBezTo>
                <a:lnTo>
                  <a:pt x="143828" y="118586"/>
                </a:lnTo>
                <a:lnTo>
                  <a:pt x="145812" y="116711"/>
                </a:lnTo>
                <a:close/>
                <a:moveTo>
                  <a:pt x="393065" y="13395"/>
                </a:moveTo>
                <a:cubicBezTo>
                  <a:pt x="400526" y="5001"/>
                  <a:pt x="412591" y="5001"/>
                  <a:pt x="420053" y="13395"/>
                </a:cubicBezTo>
                <a:cubicBezTo>
                  <a:pt x="427038" y="21253"/>
                  <a:pt x="427434" y="33665"/>
                  <a:pt x="421323" y="42148"/>
                </a:cubicBezTo>
                <a:lnTo>
                  <a:pt x="420053" y="43755"/>
                </a:lnTo>
                <a:lnTo>
                  <a:pt x="329168" y="145911"/>
                </a:lnTo>
                <a:cubicBezTo>
                  <a:pt x="335280" y="146804"/>
                  <a:pt x="341233" y="148590"/>
                  <a:pt x="347028" y="151180"/>
                </a:cubicBezTo>
                <a:lnTo>
                  <a:pt x="393303" y="99120"/>
                </a:lnTo>
                <a:cubicBezTo>
                  <a:pt x="400764" y="90726"/>
                  <a:pt x="412829" y="90726"/>
                  <a:pt x="420291" y="99120"/>
                </a:cubicBezTo>
                <a:cubicBezTo>
                  <a:pt x="427276" y="106978"/>
                  <a:pt x="427672" y="119390"/>
                  <a:pt x="421561" y="127784"/>
                </a:cubicBezTo>
                <a:lnTo>
                  <a:pt x="420211" y="129391"/>
                </a:lnTo>
                <a:lnTo>
                  <a:pt x="378381" y="176451"/>
                </a:lnTo>
                <a:lnTo>
                  <a:pt x="409337" y="211276"/>
                </a:lnTo>
                <a:cubicBezTo>
                  <a:pt x="414258" y="216813"/>
                  <a:pt x="414258" y="225921"/>
                  <a:pt x="409337" y="231458"/>
                </a:cubicBezTo>
                <a:lnTo>
                  <a:pt x="403463" y="238065"/>
                </a:lnTo>
                <a:cubicBezTo>
                  <a:pt x="373698" y="271552"/>
                  <a:pt x="325438" y="271552"/>
                  <a:pt x="295672" y="238065"/>
                </a:cubicBezTo>
                <a:lnTo>
                  <a:pt x="220345" y="153323"/>
                </a:lnTo>
                <a:cubicBezTo>
                  <a:pt x="190579" y="119836"/>
                  <a:pt x="190579" y="65544"/>
                  <a:pt x="220345" y="32147"/>
                </a:cubicBezTo>
                <a:lnTo>
                  <a:pt x="226219" y="25539"/>
                </a:lnTo>
                <a:lnTo>
                  <a:pt x="228203" y="23664"/>
                </a:lnTo>
                <a:cubicBezTo>
                  <a:pt x="233124" y="20003"/>
                  <a:pt x="239871" y="20628"/>
                  <a:pt x="244158" y="25539"/>
                </a:cubicBezTo>
                <a:lnTo>
                  <a:pt x="275114" y="60365"/>
                </a:lnTo>
                <a:lnTo>
                  <a:pt x="316944" y="13305"/>
                </a:lnTo>
                <a:cubicBezTo>
                  <a:pt x="324406" y="4911"/>
                  <a:pt x="336471" y="4911"/>
                  <a:pt x="343932" y="13305"/>
                </a:cubicBezTo>
                <a:cubicBezTo>
                  <a:pt x="350917" y="21163"/>
                  <a:pt x="351314" y="33576"/>
                  <a:pt x="345202" y="41970"/>
                </a:cubicBezTo>
                <a:lnTo>
                  <a:pt x="343853" y="43577"/>
                </a:lnTo>
                <a:lnTo>
                  <a:pt x="297577" y="95637"/>
                </a:lnTo>
                <a:cubicBezTo>
                  <a:pt x="299799" y="101977"/>
                  <a:pt x="301308" y="108585"/>
                  <a:pt x="302101" y="115372"/>
                </a:cubicBezTo>
                <a:lnTo>
                  <a:pt x="393065" y="13395"/>
                </a:ln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17" name="Text 15"/>
          <p:cNvSpPr/>
          <p:nvPr/>
        </p:nvSpPr>
        <p:spPr>
          <a:xfrm>
            <a:off x="5283200" y="1752600"/>
            <a:ext cx="2413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智慧农业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99000" y="2336800"/>
            <a:ext cx="292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监测土壤墒情、作物生长状态，实现精准灌溉和智能施肥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28000" y="1524000"/>
            <a:ext cx="3429000" cy="2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922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82000" y="1752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48067" y="7680"/>
                </a:moveTo>
                <a:cubicBezTo>
                  <a:pt x="237083" y="-2500"/>
                  <a:pt x="220117" y="-2500"/>
                  <a:pt x="209223" y="7680"/>
                </a:cubicBezTo>
                <a:lnTo>
                  <a:pt x="9198" y="193417"/>
                </a:lnTo>
                <a:cubicBezTo>
                  <a:pt x="625" y="201454"/>
                  <a:pt x="-2232" y="213866"/>
                  <a:pt x="2054" y="224760"/>
                </a:cubicBezTo>
                <a:cubicBezTo>
                  <a:pt x="6340" y="235654"/>
                  <a:pt x="16788" y="242888"/>
                  <a:pt x="28575" y="242888"/>
                </a:cubicBezTo>
                <a:lnTo>
                  <a:pt x="42863" y="242888"/>
                </a:lnTo>
                <a:lnTo>
                  <a:pt x="42863" y="400050"/>
                </a:lnTo>
                <a:cubicBezTo>
                  <a:pt x="42863" y="431572"/>
                  <a:pt x="68491" y="457200"/>
                  <a:pt x="100013" y="457200"/>
                </a:cubicBezTo>
                <a:lnTo>
                  <a:pt x="177165" y="457200"/>
                </a:lnTo>
                <a:lnTo>
                  <a:pt x="149215" y="410587"/>
                </a:lnTo>
                <a:cubicBezTo>
                  <a:pt x="145554" y="404515"/>
                  <a:pt x="146893" y="396746"/>
                  <a:pt x="152340" y="392281"/>
                </a:cubicBezTo>
                <a:lnTo>
                  <a:pt x="228600" y="328613"/>
                </a:lnTo>
                <a:lnTo>
                  <a:pt x="174843" y="254675"/>
                </a:lnTo>
                <a:cubicBezTo>
                  <a:pt x="165110" y="241280"/>
                  <a:pt x="182166" y="224760"/>
                  <a:pt x="195203" y="235029"/>
                </a:cubicBezTo>
                <a:lnTo>
                  <a:pt x="300484" y="317718"/>
                </a:lnTo>
                <a:cubicBezTo>
                  <a:pt x="307628" y="323344"/>
                  <a:pt x="307806" y="334149"/>
                  <a:pt x="300841" y="339953"/>
                </a:cubicBezTo>
                <a:lnTo>
                  <a:pt x="228600" y="400050"/>
                </a:lnTo>
                <a:lnTo>
                  <a:pt x="262890" y="457200"/>
                </a:lnTo>
                <a:lnTo>
                  <a:pt x="357188" y="457200"/>
                </a:lnTo>
                <a:cubicBezTo>
                  <a:pt x="388709" y="457200"/>
                  <a:pt x="414338" y="431572"/>
                  <a:pt x="414338" y="400050"/>
                </a:cubicBezTo>
                <a:lnTo>
                  <a:pt x="414338" y="242888"/>
                </a:lnTo>
                <a:lnTo>
                  <a:pt x="428625" y="242888"/>
                </a:lnTo>
                <a:cubicBezTo>
                  <a:pt x="440412" y="242888"/>
                  <a:pt x="450949" y="235654"/>
                  <a:pt x="455235" y="224760"/>
                </a:cubicBezTo>
                <a:cubicBezTo>
                  <a:pt x="459522" y="213866"/>
                  <a:pt x="456664" y="201364"/>
                  <a:pt x="448092" y="193417"/>
                </a:cubicBezTo>
                <a:lnTo>
                  <a:pt x="248067" y="7680"/>
                </a:ln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21" name="Text 19"/>
          <p:cNvSpPr/>
          <p:nvPr/>
        </p:nvSpPr>
        <p:spPr>
          <a:xfrm>
            <a:off x="8966200" y="1752600"/>
            <a:ext cx="2413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灾害预警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82000" y="2336800"/>
            <a:ext cx="292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监测地震、洪水、火灾等自然灾害，及时预警减少人员伤亡和财产损失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1811000" y="1524000"/>
            <a:ext cx="3683000" cy="2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922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2065000" y="1752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575" y="28575"/>
                </a:moveTo>
                <a:cubicBezTo>
                  <a:pt x="12769" y="28575"/>
                  <a:pt x="0" y="41344"/>
                  <a:pt x="0" y="57150"/>
                </a:cubicBezTo>
                <a:lnTo>
                  <a:pt x="0" y="385763"/>
                </a:lnTo>
                <a:cubicBezTo>
                  <a:pt x="0" y="409426"/>
                  <a:pt x="19199" y="428625"/>
                  <a:pt x="42863" y="428625"/>
                </a:cubicBezTo>
                <a:lnTo>
                  <a:pt x="414338" y="428625"/>
                </a:lnTo>
                <a:cubicBezTo>
                  <a:pt x="438001" y="428625"/>
                  <a:pt x="457200" y="409426"/>
                  <a:pt x="457200" y="385763"/>
                </a:cubicBezTo>
                <a:lnTo>
                  <a:pt x="457200" y="135910"/>
                </a:lnTo>
                <a:cubicBezTo>
                  <a:pt x="457200" y="119658"/>
                  <a:pt x="439876" y="109389"/>
                  <a:pt x="425589" y="117068"/>
                </a:cubicBezTo>
                <a:lnTo>
                  <a:pt x="285750" y="192345"/>
                </a:lnTo>
                <a:lnTo>
                  <a:pt x="285750" y="135910"/>
                </a:lnTo>
                <a:cubicBezTo>
                  <a:pt x="285750" y="119658"/>
                  <a:pt x="268426" y="109389"/>
                  <a:pt x="254139" y="117068"/>
                </a:cubicBezTo>
                <a:lnTo>
                  <a:pt x="114300" y="192345"/>
                </a:lnTo>
                <a:lnTo>
                  <a:pt x="114300" y="57150"/>
                </a:lnTo>
                <a:cubicBezTo>
                  <a:pt x="114300" y="41344"/>
                  <a:pt x="101531" y="28575"/>
                  <a:pt x="85725" y="28575"/>
                </a:cubicBezTo>
                <a:lnTo>
                  <a:pt x="28575" y="28575"/>
                </a:ln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25" name="Text 23"/>
          <p:cNvSpPr/>
          <p:nvPr/>
        </p:nvSpPr>
        <p:spPr>
          <a:xfrm>
            <a:off x="12649200" y="1752600"/>
            <a:ext cx="2667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工业物联网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065000" y="2336800"/>
            <a:ext cx="3175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设备状态监控、生产线自动化管理，提升工业生产效率与安全性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62000" y="4318000"/>
            <a:ext cx="14732000" cy="2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922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016000" y="44704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节点部署质量决定网络性能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16000" y="4953000"/>
            <a:ext cx="1422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节点部署质量直接影响网络对目标区域的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感知能力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、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通信连通性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和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资源利用率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若节点分布过于随机，容易出现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覆盖空洞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、局部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重复覆盖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以及节点间通信不足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群体智能算法将一组节点坐标视为候选解，通过群体协作搜索高维连续空间，适合 WSN 覆盖优化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相比规则网格部署，群体智能算法不依赖人工规则，更易适应障碍物和复杂约束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7086600"/>
            <a:ext cx="14732000" cy="15240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2000" y="7086600"/>
            <a:ext cx="63500" cy="1524000"/>
          </a:xfrm>
          <a:prstGeom prst="rect">
            <a:avLst/>
          </a:prstGeom>
          <a:solidFill>
            <a:srgbClr val="1B4F8F"/>
          </a:solidFill>
          <a:ln/>
        </p:spPr>
      </p:sp>
      <p:sp>
        <p:nvSpPr>
          <p:cNvPr id="32" name="Text 30"/>
          <p:cNvSpPr/>
          <p:nvPr/>
        </p:nvSpPr>
        <p:spPr>
          <a:xfrm>
            <a:off x="1016000" y="71628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本页结论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16000" y="7493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WSN 广泛应用于环境监测、智慧农业、灾害预警和工业物联网等领域。节点部署质量直接决定感知能力、通信连通性和资源利用率。群体智能算法能够自动搜索最优节点坐标，是解决 WSN 覆盖优化问题的有效途径。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62000" y="87884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群体智能课程项目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3970000" y="87884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/ 16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B4F8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研究背景与问题提出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WSN覆盖模型设计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群体智能算法设计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7536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实验结果与可视化分析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0048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总结展望与团队分工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558800"/>
            <a:ext cx="3251200" cy="50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7620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问题提出：覆盖空洞、冗余覆盖、连通不足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1524000"/>
            <a:ext cx="4699000" cy="482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5098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16000" y="17780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279400" y="558800"/>
                </a:moveTo>
                <a:cubicBezTo>
                  <a:pt x="433605" y="558800"/>
                  <a:pt x="558800" y="433605"/>
                  <a:pt x="558800" y="279400"/>
                </a:cubicBezTo>
                <a:cubicBezTo>
                  <a:pt x="558800" y="125195"/>
                  <a:pt x="433605" y="0"/>
                  <a:pt x="279400" y="0"/>
                </a:cubicBezTo>
                <a:cubicBezTo>
                  <a:pt x="125195" y="0"/>
                  <a:pt x="0" y="125195"/>
                  <a:pt x="0" y="279400"/>
                </a:cubicBezTo>
                <a:cubicBezTo>
                  <a:pt x="0" y="433605"/>
                  <a:pt x="125195" y="558800"/>
                  <a:pt x="279400" y="558800"/>
                </a:cubicBezTo>
                <a:close/>
                <a:moveTo>
                  <a:pt x="279400" y="174625"/>
                </a:moveTo>
                <a:cubicBezTo>
                  <a:pt x="337227" y="174625"/>
                  <a:pt x="384175" y="221573"/>
                  <a:pt x="384175" y="279400"/>
                </a:cubicBezTo>
                <a:cubicBezTo>
                  <a:pt x="384175" y="337227"/>
                  <a:pt x="337227" y="384175"/>
                  <a:pt x="279400" y="384175"/>
                </a:cubicBezTo>
                <a:cubicBezTo>
                  <a:pt x="221573" y="384175"/>
                  <a:pt x="174625" y="337227"/>
                  <a:pt x="174625" y="279400"/>
                </a:cubicBezTo>
                <a:cubicBezTo>
                  <a:pt x="174625" y="221573"/>
                  <a:pt x="221573" y="174625"/>
                  <a:pt x="279400" y="174625"/>
                </a:cubicBezTo>
                <a:close/>
              </a:path>
            </a:pathLst>
          </a:cu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1727200" y="1778000"/>
            <a:ext cx="3479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C039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覆盖空洞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16000" y="2540000"/>
            <a:ext cx="4191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部分区域没有传感器节点覆盖，形成感知盲区。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影响：</a:t>
            </a:r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监测数据缺失、事件漏检风险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原因：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随机部署不均匀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节点数量不足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感知半径过小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15000" y="1524000"/>
            <a:ext cx="4699000" cy="482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5098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69000" y="17780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314325" y="488950"/>
                </a:moveTo>
                <a:lnTo>
                  <a:pt x="69850" y="488950"/>
                </a:lnTo>
                <a:lnTo>
                  <a:pt x="69850" y="244475"/>
                </a:lnTo>
                <a:lnTo>
                  <a:pt x="122238" y="244475"/>
                </a:lnTo>
                <a:lnTo>
                  <a:pt x="122238" y="174625"/>
                </a:lnTo>
                <a:lnTo>
                  <a:pt x="69850" y="174625"/>
                </a:lnTo>
                <a:cubicBezTo>
                  <a:pt x="31323" y="174625"/>
                  <a:pt x="0" y="205948"/>
                  <a:pt x="0" y="244475"/>
                </a:cubicBezTo>
                <a:lnTo>
                  <a:pt x="0" y="488950"/>
                </a:lnTo>
                <a:cubicBezTo>
                  <a:pt x="0" y="527477"/>
                  <a:pt x="31323" y="558800"/>
                  <a:pt x="69850" y="558800"/>
                </a:cubicBezTo>
                <a:lnTo>
                  <a:pt x="314325" y="558800"/>
                </a:lnTo>
                <a:cubicBezTo>
                  <a:pt x="352852" y="558800"/>
                  <a:pt x="384175" y="527477"/>
                  <a:pt x="384175" y="488950"/>
                </a:cubicBezTo>
                <a:lnTo>
                  <a:pt x="384175" y="436563"/>
                </a:lnTo>
                <a:lnTo>
                  <a:pt x="314325" y="436563"/>
                </a:lnTo>
                <a:lnTo>
                  <a:pt x="314325" y="488950"/>
                </a:lnTo>
                <a:close/>
                <a:moveTo>
                  <a:pt x="244475" y="384175"/>
                </a:moveTo>
                <a:lnTo>
                  <a:pt x="488950" y="384175"/>
                </a:lnTo>
                <a:cubicBezTo>
                  <a:pt x="527477" y="384175"/>
                  <a:pt x="558800" y="352852"/>
                  <a:pt x="558800" y="314325"/>
                </a:cubicBezTo>
                <a:lnTo>
                  <a:pt x="558800" y="69850"/>
                </a:lnTo>
                <a:cubicBezTo>
                  <a:pt x="558800" y="31323"/>
                  <a:pt x="527477" y="0"/>
                  <a:pt x="488950" y="0"/>
                </a:cubicBezTo>
                <a:lnTo>
                  <a:pt x="244475" y="0"/>
                </a:lnTo>
                <a:cubicBezTo>
                  <a:pt x="205948" y="0"/>
                  <a:pt x="174625" y="31323"/>
                  <a:pt x="174625" y="69850"/>
                </a:cubicBezTo>
                <a:lnTo>
                  <a:pt x="174625" y="314325"/>
                </a:lnTo>
                <a:cubicBezTo>
                  <a:pt x="174625" y="352852"/>
                  <a:pt x="205948" y="384175"/>
                  <a:pt x="244475" y="384175"/>
                </a:cubicBezTo>
                <a:close/>
              </a:path>
            </a:pathLst>
          </a:custGeom>
          <a:solidFill>
            <a:srgbClr val="D4652A"/>
          </a:solidFill>
          <a:ln/>
        </p:spPr>
      </p:sp>
      <p:sp>
        <p:nvSpPr>
          <p:cNvPr id="17" name="Text 15"/>
          <p:cNvSpPr/>
          <p:nvPr/>
        </p:nvSpPr>
        <p:spPr>
          <a:xfrm>
            <a:off x="6680200" y="1778000"/>
            <a:ext cx="3479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冗余覆盖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969000" y="2540000"/>
            <a:ext cx="4191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多个节点重复覆盖同一区域，造成资源浪费。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影响：</a:t>
            </a:r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能量消耗加速、节点寿命缩短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原因：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节点过度聚集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缺乏冗余控制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优化目标单一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668000" y="1524000"/>
            <a:ext cx="4826000" cy="482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5098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922000" y="17780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279400" y="104775"/>
                </a:moveTo>
                <a:cubicBezTo>
                  <a:pt x="191214" y="104775"/>
                  <a:pt x="111372" y="144066"/>
                  <a:pt x="52679" y="208022"/>
                </a:cubicBezTo>
                <a:cubicBezTo>
                  <a:pt x="40358" y="221446"/>
                  <a:pt x="20664" y="221119"/>
                  <a:pt x="8828" y="207258"/>
                </a:cubicBezTo>
                <a:cubicBezTo>
                  <a:pt x="-3007" y="193397"/>
                  <a:pt x="-2813" y="171242"/>
                  <a:pt x="9507" y="157926"/>
                </a:cubicBezTo>
                <a:cubicBezTo>
                  <a:pt x="79260" y="81746"/>
                  <a:pt x="174528" y="34925"/>
                  <a:pt x="279400" y="34925"/>
                </a:cubicBezTo>
                <a:cubicBezTo>
                  <a:pt x="384272" y="34925"/>
                  <a:pt x="479540" y="81746"/>
                  <a:pt x="549390" y="157926"/>
                </a:cubicBezTo>
                <a:cubicBezTo>
                  <a:pt x="561710" y="171351"/>
                  <a:pt x="562001" y="193506"/>
                  <a:pt x="550069" y="207258"/>
                </a:cubicBezTo>
                <a:cubicBezTo>
                  <a:pt x="538136" y="221010"/>
                  <a:pt x="518442" y="221446"/>
                  <a:pt x="506218" y="208022"/>
                </a:cubicBezTo>
                <a:cubicBezTo>
                  <a:pt x="447428" y="144066"/>
                  <a:pt x="367586" y="104775"/>
                  <a:pt x="279400" y="104775"/>
                </a:cubicBezTo>
                <a:close/>
                <a:moveTo>
                  <a:pt x="232833" y="471488"/>
                </a:moveTo>
                <a:cubicBezTo>
                  <a:pt x="232833" y="442574"/>
                  <a:pt x="253699" y="419100"/>
                  <a:pt x="279400" y="419100"/>
                </a:cubicBezTo>
                <a:cubicBezTo>
                  <a:pt x="305101" y="419100"/>
                  <a:pt x="325967" y="442574"/>
                  <a:pt x="325967" y="471488"/>
                </a:cubicBezTo>
                <a:cubicBezTo>
                  <a:pt x="325967" y="500401"/>
                  <a:pt x="305101" y="523875"/>
                  <a:pt x="279400" y="523875"/>
                </a:cubicBezTo>
                <a:cubicBezTo>
                  <a:pt x="253699" y="523875"/>
                  <a:pt x="232833" y="500401"/>
                  <a:pt x="232833" y="471488"/>
                </a:cubicBezTo>
                <a:close/>
                <a:moveTo>
                  <a:pt x="162983" y="356017"/>
                </a:moveTo>
                <a:cubicBezTo>
                  <a:pt x="151633" y="370532"/>
                  <a:pt x="132036" y="371842"/>
                  <a:pt x="119133" y="359073"/>
                </a:cubicBezTo>
                <a:cubicBezTo>
                  <a:pt x="106230" y="346303"/>
                  <a:pt x="105066" y="324257"/>
                  <a:pt x="116417" y="309741"/>
                </a:cubicBezTo>
                <a:cubicBezTo>
                  <a:pt x="156192" y="259100"/>
                  <a:pt x="214498" y="227013"/>
                  <a:pt x="279400" y="227013"/>
                </a:cubicBezTo>
                <a:cubicBezTo>
                  <a:pt x="344302" y="227013"/>
                  <a:pt x="402608" y="259100"/>
                  <a:pt x="442383" y="309741"/>
                </a:cubicBezTo>
                <a:cubicBezTo>
                  <a:pt x="453734" y="324257"/>
                  <a:pt x="452473" y="346303"/>
                  <a:pt x="439667" y="359073"/>
                </a:cubicBezTo>
                <a:cubicBezTo>
                  <a:pt x="426861" y="371842"/>
                  <a:pt x="407167" y="370423"/>
                  <a:pt x="395817" y="356017"/>
                </a:cubicBezTo>
                <a:cubicBezTo>
                  <a:pt x="367295" y="319673"/>
                  <a:pt x="325773" y="296863"/>
                  <a:pt x="279400" y="296863"/>
                </a:cubicBezTo>
                <a:cubicBezTo>
                  <a:pt x="233027" y="296863"/>
                  <a:pt x="191505" y="319673"/>
                  <a:pt x="162983" y="356017"/>
                </a:cubicBez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21" name="Text 19"/>
          <p:cNvSpPr/>
          <p:nvPr/>
        </p:nvSpPr>
        <p:spPr>
          <a:xfrm>
            <a:off x="11633200" y="1778000"/>
            <a:ext cx="3606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连通不足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922000" y="2540000"/>
            <a:ext cx="431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节点之间无法通信，影响数据回传和协作。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影响：</a:t>
            </a:r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数据无法汇聚、网络分区碎片化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原因：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通信半径限制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障碍物阻挡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节点间距过大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6578600"/>
            <a:ext cx="14732000" cy="19050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2000" y="6578600"/>
            <a:ext cx="63500" cy="1905000"/>
          </a:xfrm>
          <a:prstGeom prst="rect">
            <a:avLst/>
          </a:prstGeom>
          <a:solidFill>
            <a:srgbClr val="1B4F8F"/>
          </a:solidFill>
          <a:ln/>
        </p:spPr>
      </p:sp>
      <p:sp>
        <p:nvSpPr>
          <p:cNvPr id="25" name="Text 23"/>
          <p:cNvSpPr/>
          <p:nvPr/>
        </p:nvSpPr>
        <p:spPr>
          <a:xfrm>
            <a:off x="1016000" y="66548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本页结论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16000" y="7010400"/>
            <a:ext cx="14224000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WSN 覆盖优化本质上是覆盖率、冗余率和连通性的多目标权衡问题。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本项目针对上述三大挑战，建立网格化监测环境，设计综合考虑 Coverage、Redundancy 和 Connectivity 的加权适应度函数，采用群体智能算法自动搜索最优节点部署方案。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2000" y="87884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群体智能课程项目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3970000" y="87884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/ 16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B4F8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研究背景与问题提出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WSN覆盖模型设计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群体智能算法设计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7536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实验结果与可视化分析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0048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总结展望与团队分工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51200" y="558800"/>
            <a:ext cx="3251200" cy="50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7620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技术路线与实现流程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D0D8E4"/>
          </a:solidFill>
          <a:ln/>
        </p:spPr>
      </p:sp>
      <p:pic>
        <p:nvPicPr>
          <p:cNvPr id="11" name="Image 0" descr="/api/kimi-static/__host/kimi-img.moonshot.cn/pub/slides/okc/fskqmzs4prvz6/mnt/agents/output/wsn_ppt/images/fig1_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2000" y="1447800"/>
            <a:ext cx="14732000" cy="3937000"/>
          </a:xfrm>
          <a:prstGeom prst="roundRect">
            <a:avLst>
              <a:gd name="adj" fmla="val 4000"/>
            </a:avLst>
          </a:prstGeom>
        </p:spPr>
      </p:pic>
      <p:sp>
        <p:nvSpPr>
          <p:cNvPr id="12" name="Shape 9"/>
          <p:cNvSpPr/>
          <p:nvPr/>
        </p:nvSpPr>
        <p:spPr>
          <a:xfrm>
            <a:off x="762000" y="5588000"/>
            <a:ext cx="1473200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922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16000" y="56896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代码模块对应关系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016000" y="6172200"/>
            <a:ext cx="3302000" cy="109220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6223000"/>
            <a:ext cx="3048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environment.py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监测区域网格化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障碍物处理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0" y="6172200"/>
            <a:ext cx="3302000" cy="109220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/>
        </p:spPr>
      </p:sp>
      <p:sp>
        <p:nvSpPr>
          <p:cNvPr id="17" name="Text 14"/>
          <p:cNvSpPr/>
          <p:nvPr/>
        </p:nvSpPr>
        <p:spPr>
          <a:xfrm>
            <a:off x="4699000" y="6223000"/>
            <a:ext cx="3048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fitness.py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覆盖率、冗余率计算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连通性评价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128000" y="6172200"/>
            <a:ext cx="3302000" cy="109220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/>
        </p:spPr>
      </p:sp>
      <p:sp>
        <p:nvSpPr>
          <p:cNvPr id="19" name="Text 16"/>
          <p:cNvSpPr/>
          <p:nvPr/>
        </p:nvSpPr>
        <p:spPr>
          <a:xfrm>
            <a:off x="8255000" y="6223000"/>
            <a:ext cx="3048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algorithms/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PSO / GWO / WOA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及改进策略实现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11684000" y="6172200"/>
            <a:ext cx="3556000" cy="109220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/>
        </p:spPr>
      </p:sp>
      <p:sp>
        <p:nvSpPr>
          <p:cNvPr id="21" name="Text 18"/>
          <p:cNvSpPr/>
          <p:nvPr/>
        </p:nvSpPr>
        <p:spPr>
          <a:xfrm>
            <a:off x="11811000" y="6223000"/>
            <a:ext cx="3302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visualization/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覆盖率图、收敛图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箱线图、热力图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62000" y="8229600"/>
            <a:ext cx="14732000" cy="4572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62000" y="8229600"/>
            <a:ext cx="63500" cy="457200"/>
          </a:xfrm>
          <a:prstGeom prst="rect">
            <a:avLst/>
          </a:prstGeom>
          <a:solidFill>
            <a:srgbClr val="1B4F8F"/>
          </a:solidFill>
          <a:ln/>
        </p:spPr>
      </p:sp>
      <p:sp>
        <p:nvSpPr>
          <p:cNvPr id="24" name="Text 21"/>
          <p:cNvSpPr/>
          <p:nvPr/>
        </p:nvSpPr>
        <p:spPr>
          <a:xfrm>
            <a:off x="1016000" y="8280400"/>
            <a:ext cx="142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项目采用模块化架构，从环境建模、适应度评价、算法优化到可视化分析形成完整实验流程，确保研究的可复现性和可扩展性。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62000" y="87884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群体智能课程项目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3970000" y="87884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/ 16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B4F8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研究背景与问题提出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WSN覆盖模型设计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群体智能算法设计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7536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实验结果与可视化分析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0048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总结展望与团队分工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51200" y="558800"/>
            <a:ext cx="3251200" cy="50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7620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覆盖优化模型与适应度函数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1473200"/>
            <a:ext cx="14732000" cy="12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922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16000" y="1549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综合适应度函数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6000" y="1905000"/>
            <a:ext cx="14224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 = 0.5 × Coverage + 0.3 × (1 − Redundancy) + 0.2 × Connectivity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762000" y="2946400"/>
            <a:ext cx="46990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922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16000" y="3098800"/>
            <a:ext cx="1016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0.5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095500" y="3098800"/>
            <a:ext cx="31115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Coverage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16000" y="3759200"/>
            <a:ext cx="4191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被至少一个传感器节点覆盖的有效网格点比例。</a:t>
            </a:r>
            <a:endParaRPr lang="en-US" sz="15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权重最高（0.5），优先保证覆盖范围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直接反映监测区域感知能力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目标：最大化有效覆盖面积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715000" y="2946400"/>
            <a:ext cx="46990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922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69000" y="3098800"/>
            <a:ext cx="1016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0.3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048500" y="3098800"/>
            <a:ext cx="31115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1 − Redundancy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969000" y="3759200"/>
            <a:ext cx="4191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被覆盖网格点上除首个节点外的平均额外覆盖比例。</a:t>
            </a:r>
            <a:endParaRPr lang="en-US" sz="15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权重 0.3，抑制过度重复覆盖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1−Redundancy 越大表示冗余越少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目标：减少资源浪费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0668000" y="2946400"/>
            <a:ext cx="48260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922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922000" y="3098800"/>
            <a:ext cx="1016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0.2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12001500" y="3098800"/>
            <a:ext cx="32385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Connectivity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922000" y="3759200"/>
            <a:ext cx="431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可通信节点对占所有节点对的比例。</a:t>
            </a:r>
            <a:endParaRPr lang="en-US" sz="15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权重 0.2，保证网络连通性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通信半径 Rc = 24.0 为阈值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目标：确保数据可靠回传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62000" y="6705600"/>
            <a:ext cx="14732000" cy="17780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2000" y="6705600"/>
            <a:ext cx="63500" cy="1778000"/>
          </a:xfrm>
          <a:prstGeom prst="rect">
            <a:avLst/>
          </a:prstGeom>
          <a:solidFill>
            <a:srgbClr val="1B4F8F"/>
          </a:solidFill>
          <a:ln/>
        </p:spPr>
      </p:sp>
      <p:sp>
        <p:nvSpPr>
          <p:cNvPr id="28" name="Text 26"/>
          <p:cNvSpPr/>
          <p:nvPr/>
        </p:nvSpPr>
        <p:spPr>
          <a:xfrm>
            <a:off x="1016000" y="67818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本页结论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16000" y="7137400"/>
            <a:ext cx="14224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本项目不是单纯追求覆盖率，而是综合考虑覆盖、冗余和通信连通性。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三个分量均被限制在 [0,1] 范围内，适应度数值便于在不同场景和不同算法之间横向比较。权重设计使算法优先提高覆盖率，同时抑制过度重复覆盖，并保留对通信连通性的约束。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2000" y="87884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群体智能课程项目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3970000" y="87884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/ 16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B4F8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研究背景与问题提出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WSN覆盖模型设计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群体智能算法设计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7536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实验结果与可视化分析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0048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总结展望与团队分工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02400" y="558800"/>
            <a:ext cx="3251200" cy="50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7620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群体智能算法设计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D0D8E4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73200"/>
          <a:ext cx="14732000" cy="3048000"/>
        </p:xfrm>
        <a:graphic>
          <a:graphicData uri="http://schemas.openxmlformats.org/drawingml/2006/table">
            <a:tbl>
              <a:tblPr/>
              <a:tblGrid>
                <a:gridCol w="2062480"/>
                <a:gridCol w="2651760"/>
                <a:gridCol w="5303520"/>
                <a:gridCol w="4714240"/>
              </a:tblGrid>
              <a:tr h="670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算法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个体含义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搜索机制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特点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PSO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一组节点坐标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pbest + gbest 引导更新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连续空间收敛快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GWO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灰狼个体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Alpha/Beta/Delta 三层引导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兼顾探索与开发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WOA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鲸鱼个体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包围、螺旋、随机搜索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具备跳出局部能力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762000" y="4749800"/>
            <a:ext cx="147320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922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16000" y="48768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改进策略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016000" y="5334000"/>
            <a:ext cx="4445000" cy="152400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/>
        </p:spPr>
      </p:sp>
      <p:sp>
        <p:nvSpPr>
          <p:cNvPr id="15" name="Shape 12"/>
          <p:cNvSpPr/>
          <p:nvPr/>
        </p:nvSpPr>
        <p:spPr>
          <a:xfrm>
            <a:off x="1270000" y="5537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20516" y="27305"/>
                </a:moveTo>
                <a:cubicBezTo>
                  <a:pt x="330041" y="23336"/>
                  <a:pt x="340916" y="25559"/>
                  <a:pt x="348218" y="32782"/>
                </a:cubicBezTo>
                <a:lnTo>
                  <a:pt x="399018" y="83582"/>
                </a:lnTo>
                <a:cubicBezTo>
                  <a:pt x="403781" y="88344"/>
                  <a:pt x="406479" y="94774"/>
                  <a:pt x="406479" y="101521"/>
                </a:cubicBezTo>
                <a:cubicBezTo>
                  <a:pt x="406479" y="108268"/>
                  <a:pt x="403781" y="114697"/>
                  <a:pt x="399018" y="119459"/>
                </a:cubicBezTo>
                <a:lnTo>
                  <a:pt x="348218" y="170259"/>
                </a:lnTo>
                <a:cubicBezTo>
                  <a:pt x="340916" y="177562"/>
                  <a:pt x="330041" y="179705"/>
                  <a:pt x="320516" y="175736"/>
                </a:cubicBezTo>
                <a:cubicBezTo>
                  <a:pt x="310991" y="171768"/>
                  <a:pt x="304800" y="162639"/>
                  <a:pt x="304800" y="152400"/>
                </a:cubicBezTo>
                <a:lnTo>
                  <a:pt x="304800" y="127000"/>
                </a:lnTo>
                <a:lnTo>
                  <a:pt x="279400" y="127000"/>
                </a:lnTo>
                <a:cubicBezTo>
                  <a:pt x="271383" y="127000"/>
                  <a:pt x="263843" y="130731"/>
                  <a:pt x="259080" y="137160"/>
                </a:cubicBezTo>
                <a:lnTo>
                  <a:pt x="233362" y="171450"/>
                </a:lnTo>
                <a:lnTo>
                  <a:pt x="201613" y="129143"/>
                </a:lnTo>
                <a:lnTo>
                  <a:pt x="218440" y="106680"/>
                </a:lnTo>
                <a:cubicBezTo>
                  <a:pt x="232807" y="87471"/>
                  <a:pt x="255429" y="76200"/>
                  <a:pt x="279400" y="76200"/>
                </a:cubicBezTo>
                <a:lnTo>
                  <a:pt x="304800" y="76200"/>
                </a:lnTo>
                <a:lnTo>
                  <a:pt x="304800" y="50800"/>
                </a:lnTo>
                <a:cubicBezTo>
                  <a:pt x="304800" y="40561"/>
                  <a:pt x="310991" y="31274"/>
                  <a:pt x="320516" y="27305"/>
                </a:cubicBezTo>
                <a:close/>
                <a:moveTo>
                  <a:pt x="122238" y="234950"/>
                </a:moveTo>
                <a:lnTo>
                  <a:pt x="153988" y="277257"/>
                </a:lnTo>
                <a:lnTo>
                  <a:pt x="137160" y="299720"/>
                </a:lnTo>
                <a:cubicBezTo>
                  <a:pt x="122793" y="318929"/>
                  <a:pt x="100171" y="330200"/>
                  <a:pt x="76200" y="330200"/>
                </a:cubicBezTo>
                <a:lnTo>
                  <a:pt x="25400" y="330200"/>
                </a:lnTo>
                <a:cubicBezTo>
                  <a:pt x="11351" y="330200"/>
                  <a:pt x="0" y="318849"/>
                  <a:pt x="0" y="304800"/>
                </a:cubicBezTo>
                <a:cubicBezTo>
                  <a:pt x="0" y="290751"/>
                  <a:pt x="11351" y="279400"/>
                  <a:pt x="25400" y="279400"/>
                </a:cubicBezTo>
                <a:lnTo>
                  <a:pt x="76200" y="279400"/>
                </a:lnTo>
                <a:cubicBezTo>
                  <a:pt x="84217" y="279400"/>
                  <a:pt x="91757" y="275669"/>
                  <a:pt x="96520" y="269240"/>
                </a:cubicBezTo>
                <a:lnTo>
                  <a:pt x="122238" y="234950"/>
                </a:lnTo>
                <a:close/>
                <a:moveTo>
                  <a:pt x="348139" y="373539"/>
                </a:moveTo>
                <a:cubicBezTo>
                  <a:pt x="340836" y="380841"/>
                  <a:pt x="329962" y="382984"/>
                  <a:pt x="320437" y="379016"/>
                </a:cubicBezTo>
                <a:cubicBezTo>
                  <a:pt x="310912" y="375047"/>
                  <a:pt x="304800" y="365839"/>
                  <a:pt x="304800" y="355600"/>
                </a:cubicBezTo>
                <a:lnTo>
                  <a:pt x="304800" y="330200"/>
                </a:lnTo>
                <a:lnTo>
                  <a:pt x="279400" y="330200"/>
                </a:lnTo>
                <a:cubicBezTo>
                  <a:pt x="255429" y="330200"/>
                  <a:pt x="232807" y="318929"/>
                  <a:pt x="218440" y="299720"/>
                </a:cubicBezTo>
                <a:lnTo>
                  <a:pt x="96520" y="137160"/>
                </a:lnTo>
                <a:cubicBezTo>
                  <a:pt x="91757" y="130731"/>
                  <a:pt x="84217" y="127000"/>
                  <a:pt x="76200" y="127000"/>
                </a:cubicBezTo>
                <a:lnTo>
                  <a:pt x="25400" y="127000"/>
                </a:lnTo>
                <a:cubicBezTo>
                  <a:pt x="11351" y="127000"/>
                  <a:pt x="0" y="115649"/>
                  <a:pt x="0" y="101600"/>
                </a:cubicBezTo>
                <a:cubicBezTo>
                  <a:pt x="0" y="87551"/>
                  <a:pt x="11351" y="76200"/>
                  <a:pt x="25400" y="76200"/>
                </a:cubicBezTo>
                <a:lnTo>
                  <a:pt x="76200" y="76200"/>
                </a:lnTo>
                <a:cubicBezTo>
                  <a:pt x="100171" y="76200"/>
                  <a:pt x="122793" y="87471"/>
                  <a:pt x="137160" y="106680"/>
                </a:cubicBezTo>
                <a:lnTo>
                  <a:pt x="259080" y="269240"/>
                </a:lnTo>
                <a:cubicBezTo>
                  <a:pt x="263843" y="275669"/>
                  <a:pt x="271383" y="279400"/>
                  <a:pt x="279400" y="279400"/>
                </a:cubicBezTo>
                <a:lnTo>
                  <a:pt x="304800" y="279400"/>
                </a:lnTo>
                <a:lnTo>
                  <a:pt x="304800" y="254000"/>
                </a:lnTo>
                <a:cubicBezTo>
                  <a:pt x="304800" y="243761"/>
                  <a:pt x="310991" y="234474"/>
                  <a:pt x="320516" y="230505"/>
                </a:cubicBezTo>
                <a:cubicBezTo>
                  <a:pt x="330041" y="226536"/>
                  <a:pt x="340916" y="228759"/>
                  <a:pt x="348218" y="235982"/>
                </a:cubicBezTo>
                <a:lnTo>
                  <a:pt x="399018" y="286782"/>
                </a:lnTo>
                <a:cubicBezTo>
                  <a:pt x="403781" y="291544"/>
                  <a:pt x="406479" y="297974"/>
                  <a:pt x="406479" y="304721"/>
                </a:cubicBezTo>
                <a:cubicBezTo>
                  <a:pt x="406479" y="311467"/>
                  <a:pt x="403781" y="317897"/>
                  <a:pt x="399018" y="322659"/>
                </a:cubicBezTo>
                <a:lnTo>
                  <a:pt x="348218" y="373459"/>
                </a:ln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16" name="Text 13"/>
          <p:cNvSpPr/>
          <p:nvPr/>
        </p:nvSpPr>
        <p:spPr>
          <a:xfrm>
            <a:off x="1828800" y="5486400"/>
            <a:ext cx="342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Logistic 混沌初始化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利用混沌序列替代纯随机初始化，提高初始种群多样性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715000" y="5334000"/>
            <a:ext cx="4445000" cy="152400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/>
        </p:spPr>
      </p:sp>
      <p:sp>
        <p:nvSpPr>
          <p:cNvPr id="18" name="Shape 15"/>
          <p:cNvSpPr/>
          <p:nvPr/>
        </p:nvSpPr>
        <p:spPr>
          <a:xfrm>
            <a:off x="5969000" y="5537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50800"/>
                </a:moveTo>
                <a:cubicBezTo>
                  <a:pt x="11351" y="50800"/>
                  <a:pt x="0" y="62151"/>
                  <a:pt x="0" y="76200"/>
                </a:cubicBezTo>
                <a:cubicBezTo>
                  <a:pt x="0" y="90249"/>
                  <a:pt x="11351" y="101600"/>
                  <a:pt x="25400" y="101600"/>
                </a:cubicBezTo>
                <a:lnTo>
                  <a:pt x="94218" y="101600"/>
                </a:lnTo>
                <a:cubicBezTo>
                  <a:pt x="103981" y="124063"/>
                  <a:pt x="126365" y="139700"/>
                  <a:pt x="152400" y="139700"/>
                </a:cubicBezTo>
                <a:cubicBezTo>
                  <a:pt x="178435" y="139700"/>
                  <a:pt x="200819" y="124063"/>
                  <a:pt x="210582" y="101600"/>
                </a:cubicBezTo>
                <a:lnTo>
                  <a:pt x="381000" y="101600"/>
                </a:lnTo>
                <a:cubicBezTo>
                  <a:pt x="395049" y="101600"/>
                  <a:pt x="406400" y="90249"/>
                  <a:pt x="406400" y="76200"/>
                </a:cubicBezTo>
                <a:cubicBezTo>
                  <a:pt x="406400" y="62151"/>
                  <a:pt x="395049" y="50800"/>
                  <a:pt x="381000" y="50800"/>
                </a:cubicBezTo>
                <a:lnTo>
                  <a:pt x="210582" y="50800"/>
                </a:lnTo>
                <a:cubicBezTo>
                  <a:pt x="200819" y="28337"/>
                  <a:pt x="178435" y="12700"/>
                  <a:pt x="152400" y="12700"/>
                </a:cubicBezTo>
                <a:cubicBezTo>
                  <a:pt x="126365" y="12700"/>
                  <a:pt x="103981" y="28337"/>
                  <a:pt x="94218" y="50800"/>
                </a:cubicBezTo>
                <a:lnTo>
                  <a:pt x="25400" y="50800"/>
                </a:lnTo>
                <a:close/>
                <a:moveTo>
                  <a:pt x="25400" y="177800"/>
                </a:moveTo>
                <a:cubicBezTo>
                  <a:pt x="11351" y="177800"/>
                  <a:pt x="0" y="189151"/>
                  <a:pt x="0" y="203200"/>
                </a:cubicBezTo>
                <a:cubicBezTo>
                  <a:pt x="0" y="217249"/>
                  <a:pt x="11351" y="228600"/>
                  <a:pt x="25400" y="228600"/>
                </a:cubicBezTo>
                <a:lnTo>
                  <a:pt x="221218" y="228600"/>
                </a:lnTo>
                <a:cubicBezTo>
                  <a:pt x="230981" y="251063"/>
                  <a:pt x="253365" y="266700"/>
                  <a:pt x="279400" y="266700"/>
                </a:cubicBezTo>
                <a:cubicBezTo>
                  <a:pt x="305435" y="266700"/>
                  <a:pt x="327819" y="251063"/>
                  <a:pt x="337582" y="228600"/>
                </a:cubicBezTo>
                <a:lnTo>
                  <a:pt x="381000" y="228600"/>
                </a:lnTo>
                <a:cubicBezTo>
                  <a:pt x="395049" y="228600"/>
                  <a:pt x="406400" y="217249"/>
                  <a:pt x="406400" y="203200"/>
                </a:cubicBezTo>
                <a:cubicBezTo>
                  <a:pt x="406400" y="189151"/>
                  <a:pt x="395049" y="177800"/>
                  <a:pt x="381000" y="177800"/>
                </a:cubicBezTo>
                <a:lnTo>
                  <a:pt x="337582" y="177800"/>
                </a:lnTo>
                <a:cubicBezTo>
                  <a:pt x="327819" y="155337"/>
                  <a:pt x="305435" y="139700"/>
                  <a:pt x="279400" y="139700"/>
                </a:cubicBezTo>
                <a:cubicBezTo>
                  <a:pt x="253365" y="139700"/>
                  <a:pt x="230981" y="155337"/>
                  <a:pt x="221218" y="177800"/>
                </a:cubicBezTo>
                <a:lnTo>
                  <a:pt x="25400" y="177800"/>
                </a:lnTo>
                <a:close/>
                <a:moveTo>
                  <a:pt x="25400" y="304800"/>
                </a:moveTo>
                <a:cubicBezTo>
                  <a:pt x="11351" y="304800"/>
                  <a:pt x="0" y="316151"/>
                  <a:pt x="0" y="330200"/>
                </a:cubicBezTo>
                <a:cubicBezTo>
                  <a:pt x="0" y="344249"/>
                  <a:pt x="11351" y="355600"/>
                  <a:pt x="25400" y="355600"/>
                </a:cubicBezTo>
                <a:lnTo>
                  <a:pt x="68818" y="355600"/>
                </a:lnTo>
                <a:cubicBezTo>
                  <a:pt x="78581" y="378063"/>
                  <a:pt x="100965" y="393700"/>
                  <a:pt x="127000" y="393700"/>
                </a:cubicBezTo>
                <a:cubicBezTo>
                  <a:pt x="153035" y="393700"/>
                  <a:pt x="175419" y="378063"/>
                  <a:pt x="185182" y="355600"/>
                </a:cubicBezTo>
                <a:lnTo>
                  <a:pt x="381000" y="355600"/>
                </a:lnTo>
                <a:cubicBezTo>
                  <a:pt x="395049" y="355600"/>
                  <a:pt x="406400" y="344249"/>
                  <a:pt x="406400" y="330200"/>
                </a:cubicBezTo>
                <a:cubicBezTo>
                  <a:pt x="406400" y="316151"/>
                  <a:pt x="395049" y="304800"/>
                  <a:pt x="381000" y="304800"/>
                </a:cubicBezTo>
                <a:lnTo>
                  <a:pt x="185182" y="304800"/>
                </a:lnTo>
                <a:cubicBezTo>
                  <a:pt x="175419" y="282337"/>
                  <a:pt x="153035" y="266700"/>
                  <a:pt x="127000" y="266700"/>
                </a:cubicBezTo>
                <a:cubicBezTo>
                  <a:pt x="100965" y="266700"/>
                  <a:pt x="78581" y="282337"/>
                  <a:pt x="68818" y="304800"/>
                </a:cubicBezTo>
                <a:lnTo>
                  <a:pt x="25400" y="304800"/>
                </a:ln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19" name="Text 16"/>
          <p:cNvSpPr/>
          <p:nvPr/>
        </p:nvSpPr>
        <p:spPr>
          <a:xfrm>
            <a:off x="6527800" y="5486400"/>
            <a:ext cx="342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自适应参数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PSO 惯性权重线性衰减，GWO/WOA 收敛因子非线性变化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10414000" y="5334000"/>
            <a:ext cx="4826000" cy="152400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/>
        </p:spPr>
      </p:sp>
      <p:sp>
        <p:nvSpPr>
          <p:cNvPr id="21" name="Shape 18"/>
          <p:cNvSpPr/>
          <p:nvPr/>
        </p:nvSpPr>
        <p:spPr>
          <a:xfrm>
            <a:off x="10668000" y="5537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07340" y="-7858"/>
                </a:moveTo>
                <a:cubicBezTo>
                  <a:pt x="318135" y="-1032"/>
                  <a:pt x="322126" y="11351"/>
                  <a:pt x="317228" y="22146"/>
                </a:cubicBezTo>
                <a:lnTo>
                  <a:pt x="246108" y="177800"/>
                </a:lnTo>
                <a:lnTo>
                  <a:pt x="377371" y="177800"/>
                </a:lnTo>
                <a:cubicBezTo>
                  <a:pt x="389618" y="177800"/>
                  <a:pt x="400504" y="184468"/>
                  <a:pt x="404676" y="194548"/>
                </a:cubicBezTo>
                <a:cubicBezTo>
                  <a:pt x="408849" y="204629"/>
                  <a:pt x="405311" y="215900"/>
                  <a:pt x="395968" y="222726"/>
                </a:cubicBezTo>
                <a:lnTo>
                  <a:pt x="134711" y="413226"/>
                </a:lnTo>
                <a:cubicBezTo>
                  <a:pt x="124460" y="420688"/>
                  <a:pt x="109855" y="421084"/>
                  <a:pt x="99060" y="414258"/>
                </a:cubicBezTo>
                <a:cubicBezTo>
                  <a:pt x="88265" y="407432"/>
                  <a:pt x="84274" y="395049"/>
                  <a:pt x="89172" y="384254"/>
                </a:cubicBezTo>
                <a:lnTo>
                  <a:pt x="160292" y="228600"/>
                </a:lnTo>
                <a:lnTo>
                  <a:pt x="29029" y="228600"/>
                </a:lnTo>
                <a:cubicBezTo>
                  <a:pt x="16782" y="228600"/>
                  <a:pt x="5896" y="221933"/>
                  <a:pt x="1724" y="211852"/>
                </a:cubicBezTo>
                <a:cubicBezTo>
                  <a:pt x="-2449" y="201771"/>
                  <a:pt x="1089" y="190500"/>
                  <a:pt x="10432" y="183674"/>
                </a:cubicBezTo>
                <a:lnTo>
                  <a:pt x="271689" y="-6826"/>
                </a:lnTo>
                <a:cubicBezTo>
                  <a:pt x="281940" y="-14288"/>
                  <a:pt x="296545" y="-14684"/>
                  <a:pt x="307340" y="-7858"/>
                </a:cubicBez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22" name="Text 19"/>
          <p:cNvSpPr/>
          <p:nvPr/>
        </p:nvSpPr>
        <p:spPr>
          <a:xfrm>
            <a:off x="11226800" y="5486400"/>
            <a:ext cx="381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高斯变异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迭代后半段对部分个体施加扰动，帮助跳出局部最优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62000" y="7239000"/>
            <a:ext cx="14732000" cy="12700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62000" y="7239000"/>
            <a:ext cx="63500" cy="1270000"/>
          </a:xfrm>
          <a:prstGeom prst="rect">
            <a:avLst/>
          </a:prstGeom>
          <a:solidFill>
            <a:srgbClr val="1B4F8F"/>
          </a:solidFill>
          <a:ln/>
        </p:spPr>
      </p:sp>
      <p:sp>
        <p:nvSpPr>
          <p:cNvPr id="25" name="Text 22"/>
          <p:cNvSpPr/>
          <p:nvPr/>
        </p:nvSpPr>
        <p:spPr>
          <a:xfrm>
            <a:off x="1016000" y="73152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本页结论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016000" y="7670800"/>
            <a:ext cx="1422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PSO 的个体最优与全局最优协同机制更适合本项目的连续节点坐标优化。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改进策略增强探索但可能推迟收敛，其收益依赖场景复杂度和参数组合，需进一步调参验证。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62000" y="87884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群体智能课程项目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3970000" y="87884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 / 16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B4F8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研究背景与问题提出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WSN覆盖模型设计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群体智能算法设计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7536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实验结果与可视化分析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0048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总结展望与团队分工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02400" y="558800"/>
            <a:ext cx="3251200" cy="50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7620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实验设计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14224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实验参数配置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854200"/>
          <a:ext cx="6858000" cy="4572000"/>
        </p:xfrm>
        <a:graphic>
          <a:graphicData uri="http://schemas.openxmlformats.org/drawingml/2006/table">
            <a:tbl>
              <a:tblPr/>
              <a:tblGrid>
                <a:gridCol w="3086100"/>
                <a:gridCol w="377190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项目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取值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监测区域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100 × 100</a:t>
                      </a:r>
                      <a:pPr algn="ctr"/>
                      <a:r>
                        <a:rPr lang="en-US" sz="1400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二维区域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grid_res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2.0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max_iter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population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25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n_runs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15</a:t>
                      </a:r>
                      <a:pPr algn="ctr"/>
                      <a:r>
                        <a:rPr lang="en-US" sz="1400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次独立运行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通信半径 Rc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24.0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适应度权重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0.5 / 0.3 / 0.2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8001000" y="14224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实验场景设置</a:t>
            </a:r>
            <a:endParaRPr lang="en-US" sz="18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01000" y="1854200"/>
          <a:ext cx="7493000" cy="2540000"/>
        </p:xfrm>
        <a:graphic>
          <a:graphicData uri="http://schemas.openxmlformats.org/drawingml/2006/table">
            <a:tbl>
              <a:tblPr/>
              <a:tblGrid>
                <a:gridCol w="1648460"/>
                <a:gridCol w="1348740"/>
                <a:gridCol w="1498600"/>
                <a:gridCol w="2997200"/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场景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节点数 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感知半径 Rs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障碍物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F"/>
                    </a:solidFill>
                  </a:tcPr>
                </a:tc>
              </a:tr>
              <a:tr h="643382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Hard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25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8.0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无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3382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Medium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10.0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无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4363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Irregular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10.0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 个障碍区域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8001000" y="4622800"/>
            <a:ext cx="7493000" cy="180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922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8255000" y="4749800"/>
            <a:ext cx="6985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：节点少、感知半径小，考察稀疏部署搜索能力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Medium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：增加节点数和感知半径，观察中等密度性能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Irregular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：加入障碍物，模拟不规则可部署空间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762000" y="6654800"/>
            <a:ext cx="14732000" cy="18542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62000" y="6654800"/>
            <a:ext cx="63500" cy="1854200"/>
          </a:xfrm>
          <a:prstGeom prst="rect">
            <a:avLst/>
          </a:prstGeom>
          <a:solidFill>
            <a:srgbClr val="1B4F8F"/>
          </a:solidFill>
          <a:ln/>
        </p:spPr>
      </p:sp>
      <p:sp>
        <p:nvSpPr>
          <p:cNvPr id="19" name="Text 15"/>
          <p:cNvSpPr/>
          <p:nvPr/>
        </p:nvSpPr>
        <p:spPr>
          <a:xfrm>
            <a:off x="1016000" y="67310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本页结论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1016000" y="7086600"/>
            <a:ext cx="142240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实验以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 次独立运行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统计均值和标准差，对比方法包括 Random baseline、Grid baseline、PSO、ImprovedPSO、GWO、ImprovedGWO、WOA 和 ImprovedWOA 共 8 种。三类场景从稀疏到密集、从无障碍到有障碍，全面评估算法性能。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762000" y="87884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群体智能课程项目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13970000" y="87884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/ 16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B4F8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研究背景与问题提出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WSN覆盖模型设计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群体智能算法设计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7536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实验结果与可视化分析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0048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总结展望与团队分工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753600" y="558800"/>
            <a:ext cx="3251200" cy="50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7620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 场景覆盖率结果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13716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 = 25, Rs = 8.0, 无障碍物 — 稀疏部署场景</a:t>
            </a:r>
            <a:endParaRPr lang="en-US" sz="1300" dirty="0"/>
          </a:p>
        </p:txBody>
      </p:sp>
      <p:pic>
        <p:nvPicPr>
          <p:cNvPr id="12" name="Image 0" descr="/api/kimi-static/__host/kimi-img.moonshot.cn/pub/slides/okc/fskqmzs4prvz6/mnt/agents/output/wsn_ppt/images/coverage_H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2000" y="1727200"/>
            <a:ext cx="14732000" cy="5080000"/>
          </a:xfrm>
          <a:prstGeom prst="roundRect">
            <a:avLst>
              <a:gd name="adj" fmla="val 4000"/>
            </a:avLst>
          </a:prstGeom>
          <a:effectLst>
            <a:outerShdw sx="100000" sy="100000" kx="0" ky="0" algn="bl" rotWithShape="0" blurRad="127000" dist="50800" dir="5400000">
              <a:srgbClr val="000000">
                <a:alpha val="7059"/>
              </a:srgbClr>
            </a:outerShdw>
          </a:effectLst>
        </p:spPr>
      </p:pic>
      <p:sp>
        <p:nvSpPr>
          <p:cNvPr id="13" name="Shape 10"/>
          <p:cNvSpPr/>
          <p:nvPr/>
        </p:nvSpPr>
        <p:spPr>
          <a:xfrm>
            <a:off x="762000" y="6959600"/>
            <a:ext cx="3429000" cy="76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89000" y="70104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PSO 覆盖率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89000" y="7239000"/>
            <a:ext cx="177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0.4647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4445000" y="6959600"/>
            <a:ext cx="3429000" cy="76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572000" y="70104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覆盖率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0" y="7239000"/>
            <a:ext cx="177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0.3700</a:t>
            </a:r>
            <a:endParaRPr lang="en-US" sz="2600" dirty="0"/>
          </a:p>
        </p:txBody>
      </p:sp>
      <p:sp>
        <p:nvSpPr>
          <p:cNvPr id="19" name="Shape 16"/>
          <p:cNvSpPr/>
          <p:nvPr/>
        </p:nvSpPr>
        <p:spPr>
          <a:xfrm>
            <a:off x="8128000" y="6959600"/>
            <a:ext cx="3429000" cy="76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255000" y="7010400"/>
            <a:ext cx="177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提升幅度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255000" y="7239000"/>
            <a:ext cx="177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+9.47pp</a:t>
            </a:r>
            <a:endParaRPr lang="en-US" sz="2600" dirty="0"/>
          </a:p>
        </p:txBody>
      </p:sp>
      <p:sp>
        <p:nvSpPr>
          <p:cNvPr id="22" name="Shape 19"/>
          <p:cNvSpPr/>
          <p:nvPr/>
        </p:nvSpPr>
        <p:spPr>
          <a:xfrm>
            <a:off x="11811000" y="6959600"/>
            <a:ext cx="3683000" cy="76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1938000" y="7010400"/>
            <a:ext cx="177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Grid 基准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1938000" y="7239000"/>
            <a:ext cx="177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0.4710</a:t>
            </a:r>
            <a:endParaRPr lang="en-US" sz="2600" dirty="0"/>
          </a:p>
        </p:txBody>
      </p:sp>
      <p:sp>
        <p:nvSpPr>
          <p:cNvPr id="25" name="Shape 22"/>
          <p:cNvSpPr/>
          <p:nvPr/>
        </p:nvSpPr>
        <p:spPr>
          <a:xfrm>
            <a:off x="762000" y="7899400"/>
            <a:ext cx="14732000" cy="7112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62000" y="7899400"/>
            <a:ext cx="63500" cy="711200"/>
          </a:xfrm>
          <a:prstGeom prst="rect">
            <a:avLst/>
          </a:prstGeom>
          <a:solidFill>
            <a:srgbClr val="1B4F8F"/>
          </a:solidFill>
          <a:ln/>
        </p:spPr>
      </p:sp>
      <p:sp>
        <p:nvSpPr>
          <p:cNvPr id="27" name="Text 24"/>
          <p:cNvSpPr/>
          <p:nvPr/>
        </p:nvSpPr>
        <p:spPr>
          <a:xfrm>
            <a:off x="1016000" y="7975600"/>
            <a:ext cx="14224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 场景下 PSO 覆盖率达到 0.4647，相比 Random 的 0.3700 提升 9.47 个百分点，接近 Grid 基准 0.4710。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62000" y="87884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群体智能课程项目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3970000" y="87884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 / 16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B4F8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研究背景与问题提出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WSN覆盖模型设计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群体智能算法设计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7536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实验结果与可视化分析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0048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总结展望与团队分工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753600" y="558800"/>
            <a:ext cx="3251200" cy="50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7620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Medium 场景覆盖率结果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13716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 = 40, Rs = 10.0, 无障碍物 — 中等密度场景</a:t>
            </a:r>
            <a:endParaRPr lang="en-US" sz="1300" dirty="0"/>
          </a:p>
        </p:txBody>
      </p:sp>
      <p:pic>
        <p:nvPicPr>
          <p:cNvPr id="12" name="Image 0" descr="/api/kimi-static/__host/kimi-img.moonshot.cn/pub/slides/okc/fskqmzs4prvz6/mnt/agents/output/wsn_ppt/images/coverage_Mediu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2000" y="1727200"/>
            <a:ext cx="14732000" cy="5080000"/>
          </a:xfrm>
          <a:prstGeom prst="roundRect">
            <a:avLst>
              <a:gd name="adj" fmla="val 4000"/>
            </a:avLst>
          </a:prstGeom>
          <a:effectLst>
            <a:outerShdw sx="100000" sy="100000" kx="0" ky="0" algn="bl" rotWithShape="0" blurRad="127000" dist="50800" dir="5400000">
              <a:srgbClr val="000000">
                <a:alpha val="7059"/>
              </a:srgbClr>
            </a:outerShdw>
          </a:effectLst>
        </p:spPr>
      </p:pic>
      <p:sp>
        <p:nvSpPr>
          <p:cNvPr id="13" name="Shape 10"/>
          <p:cNvSpPr/>
          <p:nvPr/>
        </p:nvSpPr>
        <p:spPr>
          <a:xfrm>
            <a:off x="762000" y="6959600"/>
            <a:ext cx="3429000" cy="76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89000" y="70104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PSO 覆盖率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89000" y="7239000"/>
            <a:ext cx="177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0.8878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4445000" y="6959600"/>
            <a:ext cx="3429000" cy="76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572000" y="70104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覆盖率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0" y="7239000"/>
            <a:ext cx="177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0.6718</a:t>
            </a:r>
            <a:endParaRPr lang="en-US" sz="2600" dirty="0"/>
          </a:p>
        </p:txBody>
      </p:sp>
      <p:sp>
        <p:nvSpPr>
          <p:cNvPr id="19" name="Shape 16"/>
          <p:cNvSpPr/>
          <p:nvPr/>
        </p:nvSpPr>
        <p:spPr>
          <a:xfrm>
            <a:off x="8128000" y="6959600"/>
            <a:ext cx="3429000" cy="76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255000" y="7010400"/>
            <a:ext cx="177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提升幅度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255000" y="7239000"/>
            <a:ext cx="190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+21.60pp</a:t>
            </a:r>
            <a:endParaRPr lang="en-US" sz="2600" dirty="0"/>
          </a:p>
        </p:txBody>
      </p:sp>
      <p:sp>
        <p:nvSpPr>
          <p:cNvPr id="22" name="Shape 19"/>
          <p:cNvSpPr/>
          <p:nvPr/>
        </p:nvSpPr>
        <p:spPr>
          <a:xfrm>
            <a:off x="11811000" y="6959600"/>
            <a:ext cx="3683000" cy="76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1938000" y="7010400"/>
            <a:ext cx="177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Grid 基准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1938000" y="7239000"/>
            <a:ext cx="177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0.9312</a:t>
            </a:r>
            <a:endParaRPr lang="en-US" sz="2600" dirty="0"/>
          </a:p>
        </p:txBody>
      </p:sp>
      <p:sp>
        <p:nvSpPr>
          <p:cNvPr id="25" name="Shape 22"/>
          <p:cNvSpPr/>
          <p:nvPr/>
        </p:nvSpPr>
        <p:spPr>
          <a:xfrm>
            <a:off x="762000" y="7899400"/>
            <a:ext cx="14732000" cy="7112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62000" y="7899400"/>
            <a:ext cx="63500" cy="711200"/>
          </a:xfrm>
          <a:prstGeom prst="rect">
            <a:avLst/>
          </a:prstGeom>
          <a:solidFill>
            <a:srgbClr val="1B4F8F"/>
          </a:solidFill>
          <a:ln/>
        </p:spPr>
      </p:sp>
      <p:sp>
        <p:nvSpPr>
          <p:cNvPr id="27" name="Text 24"/>
          <p:cNvSpPr/>
          <p:nvPr/>
        </p:nvSpPr>
        <p:spPr>
          <a:xfrm>
            <a:off x="1016000" y="7975600"/>
            <a:ext cx="14224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Medium 场景下 PSO 覆盖率达到 0.8878，相比 Random 提升 21.60 个百分点；Grid 达到 0.9312，说明规则区域中网格部署是强基准。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62000" y="87884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群体智能课程项目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3970000" y="87884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/ 16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B4F8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研究背景与问题提出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WSN覆盖模型设计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群体智能算法设计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7536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实验结果与可视化分析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0048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总结展望与团队分工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753600" y="558800"/>
            <a:ext cx="3251200" cy="50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7620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Irregular 场景覆盖率结果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13716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 = 40, Rs = 10.0, 4 个障碍区域（2 矩形 + 2 圆形）</a:t>
            </a:r>
            <a:endParaRPr lang="en-US" sz="1300" dirty="0"/>
          </a:p>
        </p:txBody>
      </p:sp>
      <p:pic>
        <p:nvPicPr>
          <p:cNvPr id="12" name="Image 0" descr="/api/kimi-static/__host/kimi-img.moonshot.cn/pub/slides/okc/fskqmzs4prvz6/mnt/agents/output/wsn_ppt/images/coverage_Irregul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2000" y="1727200"/>
            <a:ext cx="14732000" cy="5080000"/>
          </a:xfrm>
          <a:prstGeom prst="roundRect">
            <a:avLst>
              <a:gd name="adj" fmla="val 4000"/>
            </a:avLst>
          </a:prstGeom>
          <a:effectLst>
            <a:outerShdw sx="100000" sy="100000" kx="0" ky="0" algn="bl" rotWithShape="0" blurRad="127000" dist="50800" dir="5400000">
              <a:srgbClr val="000000">
                <a:alpha val="7059"/>
              </a:srgbClr>
            </a:outerShdw>
          </a:effectLst>
        </p:spPr>
      </p:pic>
      <p:sp>
        <p:nvSpPr>
          <p:cNvPr id="13" name="Shape 10"/>
          <p:cNvSpPr/>
          <p:nvPr/>
        </p:nvSpPr>
        <p:spPr>
          <a:xfrm>
            <a:off x="762000" y="6959600"/>
            <a:ext cx="3429000" cy="76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89000" y="70104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PSO 覆盖率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89000" y="7239000"/>
            <a:ext cx="177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0.9268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4445000" y="6959600"/>
            <a:ext cx="3429000" cy="76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572000" y="70104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覆盖率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0" y="7239000"/>
            <a:ext cx="177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0.7063</a:t>
            </a:r>
            <a:endParaRPr lang="en-US" sz="2600" dirty="0"/>
          </a:p>
        </p:txBody>
      </p:sp>
      <p:sp>
        <p:nvSpPr>
          <p:cNvPr id="19" name="Shape 16"/>
          <p:cNvSpPr/>
          <p:nvPr/>
        </p:nvSpPr>
        <p:spPr>
          <a:xfrm>
            <a:off x="8128000" y="6959600"/>
            <a:ext cx="3429000" cy="76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255000" y="7010400"/>
            <a:ext cx="177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提升幅度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255000" y="7239000"/>
            <a:ext cx="190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+22.05pp</a:t>
            </a:r>
            <a:endParaRPr lang="en-US" sz="2600" dirty="0"/>
          </a:p>
        </p:txBody>
      </p:sp>
      <p:sp>
        <p:nvSpPr>
          <p:cNvPr id="22" name="Shape 19"/>
          <p:cNvSpPr/>
          <p:nvPr/>
        </p:nvSpPr>
        <p:spPr>
          <a:xfrm>
            <a:off x="11811000" y="6959600"/>
            <a:ext cx="3683000" cy="76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1938000" y="7010400"/>
            <a:ext cx="177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Grid 基准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1938000" y="7239000"/>
            <a:ext cx="177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0.9606</a:t>
            </a:r>
            <a:endParaRPr lang="en-US" sz="2600" dirty="0"/>
          </a:p>
        </p:txBody>
      </p:sp>
      <p:sp>
        <p:nvSpPr>
          <p:cNvPr id="25" name="Shape 22"/>
          <p:cNvSpPr/>
          <p:nvPr/>
        </p:nvSpPr>
        <p:spPr>
          <a:xfrm>
            <a:off x="762000" y="7899400"/>
            <a:ext cx="14732000" cy="7112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62000" y="7899400"/>
            <a:ext cx="63500" cy="711200"/>
          </a:xfrm>
          <a:prstGeom prst="rect">
            <a:avLst/>
          </a:prstGeom>
          <a:solidFill>
            <a:srgbClr val="1B4F8F"/>
          </a:solidFill>
          <a:ln/>
        </p:spPr>
      </p:sp>
      <p:sp>
        <p:nvSpPr>
          <p:cNvPr id="27" name="Text 24"/>
          <p:cNvSpPr/>
          <p:nvPr/>
        </p:nvSpPr>
        <p:spPr>
          <a:xfrm>
            <a:off x="1016000" y="7975600"/>
            <a:ext cx="14224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Irregular 场景下 PSO 覆盖率达到 0.9268，相比 Random 提升 22.05 个百分点，说明群体智能搜索能有效改善复杂区域中的随机部署问题。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62000" y="87884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群体智能课程项目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3970000" y="87884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 / 16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B4F8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研究背景与问题提出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WSN覆盖模型设计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群体智能算法设计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7536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实验结果与可视化分析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0048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总结展望与团队分工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753600" y="558800"/>
            <a:ext cx="3251200" cy="50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7620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PSO 提升汇总与 Grid 基准讨论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D0D8E4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14732000" cy="2794000"/>
        </p:xfrm>
        <a:graphic>
          <a:graphicData uri="http://schemas.openxmlformats.org/drawingml/2006/table">
            <a:tbl>
              <a:tblPr/>
              <a:tblGrid>
                <a:gridCol w="2946400"/>
                <a:gridCol w="2946400"/>
                <a:gridCol w="2946400"/>
                <a:gridCol w="2946400"/>
                <a:gridCol w="2946400"/>
              </a:tblGrid>
              <a:tr h="670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场景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Random 覆盖率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PSO 覆盖率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提升幅度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Grid 基准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F"/>
                    </a:solidFill>
                  </a:tcPr>
                </a:tc>
              </a:tr>
              <a:tr h="7077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Hard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0.3700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D465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0.4647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B4F8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+9.47 pp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0.4710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77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Medium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0.6718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D465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0.8878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B4F8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+21.60 pp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0.9312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708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Irregular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0.7063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D465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0.9268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B4F8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+22.05 pp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2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0.9606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762000" y="4572000"/>
            <a:ext cx="14732000" cy="2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922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16000" y="4699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关于 Grid Baseline 的理性解释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016000" y="5130800"/>
            <a:ext cx="142240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Grid 在 Medium 和 Irregular 场景下覆盖率分别达到 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0.9312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和 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0.9606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，均高于 PSO —— 这不是算法失败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规则网格在近似均匀、连通的可部署区域内具有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天然的均匀覆盖优势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，因此是极强的基准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群体智能算法的价值在于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不依赖人工排布规则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，更容易扩展到障碍物、更复杂约束、动态节点、能耗约束和真实地理区域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随着场景复杂度增加（Irregular vs Medium），PSO 与 Grid 的差距缩小，体现了群体智能的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适应性优势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62000" y="7315200"/>
            <a:ext cx="14732000" cy="12192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2000" y="7315200"/>
            <a:ext cx="63500" cy="1219200"/>
          </a:xfrm>
          <a:prstGeom prst="rect">
            <a:avLst/>
          </a:prstGeom>
          <a:solidFill>
            <a:srgbClr val="1B4F8F"/>
          </a:solidFill>
          <a:ln/>
        </p:spPr>
      </p:sp>
      <p:sp>
        <p:nvSpPr>
          <p:cNvPr id="17" name="Text 14"/>
          <p:cNvSpPr/>
          <p:nvPr/>
        </p:nvSpPr>
        <p:spPr>
          <a:xfrm>
            <a:off x="1016000" y="73914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本页结论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16000" y="7721600"/>
            <a:ext cx="14224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PSO 在三个场景中均取得最高的群体智能算法平均 Fitness，并且相比随机部署显著提升覆盖率。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Grid 在规则场景中表现优异，但群体智能算法具有更强的扩展性和适应性。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62000" y="87884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群体智能课程项目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3970000" y="87884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/ 16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B4F8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研究背景与问题提出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WSN覆盖模型设计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群体智能算法设计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7536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实验结果与可视化分析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0048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总结展望与团队分工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753600" y="558800"/>
            <a:ext cx="3251200" cy="50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7620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收敛性分析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D0D8E4"/>
          </a:solidFill>
          <a:ln/>
        </p:spPr>
      </p:sp>
      <p:pic>
        <p:nvPicPr>
          <p:cNvPr id="11" name="Image 0" descr="/api/kimi-static/__host/kimi-img.moonshot.cn/pub/slides/okc/fskqmzs4prvz6/mnt/agents/output/wsn_ppt/images/fig5_converge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2000" y="1447800"/>
            <a:ext cx="14732000" cy="5461000"/>
          </a:xfrm>
          <a:prstGeom prst="roundRect">
            <a:avLst>
              <a:gd name="adj" fmla="val 4000"/>
            </a:avLst>
          </a:prstGeom>
          <a:effectLst>
            <a:outerShdw sx="100000" sy="100000" kx="0" ky="0" algn="bl" rotWithShape="0" blurRad="127000" dist="50800" dir="5400000">
              <a:srgbClr val="000000">
                <a:alpha val="7059"/>
              </a:srgbClr>
            </a:outerShdw>
          </a:effectLst>
        </p:spPr>
      </p:pic>
      <p:sp>
        <p:nvSpPr>
          <p:cNvPr id="12" name="Shape 9"/>
          <p:cNvSpPr/>
          <p:nvPr/>
        </p:nvSpPr>
        <p:spPr>
          <a:xfrm>
            <a:off x="762000" y="7086600"/>
            <a:ext cx="14732000" cy="711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16000" y="7162800"/>
            <a:ext cx="14224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Hard: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WOA 最快(2次)  </a:t>
            </a:r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Medium: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WOA 最快(19次)  </a:t>
            </a:r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Irregular: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WOA 最快(18次) —— 但 WOA 最终 Fitness 均不如 PSO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62000" y="7950200"/>
            <a:ext cx="14732000" cy="6604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62000" y="7950200"/>
            <a:ext cx="63500" cy="660400"/>
          </a:xfrm>
          <a:prstGeom prst="rect">
            <a:avLst/>
          </a:prstGeom>
          <a:solidFill>
            <a:srgbClr val="1B4F8F"/>
          </a:solidFill>
          <a:ln/>
        </p:spPr>
      </p:sp>
      <p:sp>
        <p:nvSpPr>
          <p:cNvPr id="16" name="Text 13"/>
          <p:cNvSpPr/>
          <p:nvPr/>
        </p:nvSpPr>
        <p:spPr>
          <a:xfrm>
            <a:off x="1016000" y="80264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WOA 在部分场景中收敛较快，但最终 Fitness 不如 PSO；PSO 收敛速度不是最快，却获得了更好的最终综合指标。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62000" y="87884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群体智能课程项目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3970000" y="87884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 / 16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B4F8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研究背景与问题提出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WSN覆盖模型设计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群体智能算法设计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7536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实验结果与可视化分析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0048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总结展望与团队分工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753600" y="558800"/>
            <a:ext cx="3251200" cy="50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7620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稳定性分析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D0D8E4"/>
          </a:solidFill>
          <a:ln/>
        </p:spPr>
      </p:sp>
      <p:pic>
        <p:nvPicPr>
          <p:cNvPr id="11" name="Image 0" descr="/api/kimi-static/__host/kimi-img.moonshot.cn/pub/slides/okc/fskqmzs4prvz6/mnt/agents/output/wsn_ppt/images/fig6_boxpl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2000" y="1447800"/>
            <a:ext cx="14732000" cy="5461000"/>
          </a:xfrm>
          <a:prstGeom prst="roundRect">
            <a:avLst>
              <a:gd name="adj" fmla="val 4000"/>
            </a:avLst>
          </a:prstGeom>
          <a:effectLst>
            <a:outerShdw sx="100000" sy="100000" kx="0" ky="0" algn="bl" rotWithShape="0" blurRad="127000" dist="50800" dir="5400000">
              <a:srgbClr val="000000">
                <a:alpha val="7059"/>
              </a:srgbClr>
            </a:outerShdw>
          </a:effectLst>
        </p:spPr>
      </p:pic>
      <p:sp>
        <p:nvSpPr>
          <p:cNvPr id="12" name="Shape 9"/>
          <p:cNvSpPr/>
          <p:nvPr/>
        </p:nvSpPr>
        <p:spPr>
          <a:xfrm>
            <a:off x="762000" y="7086600"/>
            <a:ext cx="14732000" cy="38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16000" y="7112000"/>
            <a:ext cx="1422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箱体越窄表示稳定性越好，中位线越高表示典型运行效果越好。PSO 在三个场景中均保持较高中位水平和较窄箱体。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62000" y="7950200"/>
            <a:ext cx="14732000" cy="6604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62000" y="7950200"/>
            <a:ext cx="63500" cy="660400"/>
          </a:xfrm>
          <a:prstGeom prst="rect">
            <a:avLst/>
          </a:prstGeom>
          <a:solidFill>
            <a:srgbClr val="1B4F8F"/>
          </a:solidFill>
          <a:ln/>
        </p:spPr>
      </p:sp>
      <p:sp>
        <p:nvSpPr>
          <p:cNvPr id="16" name="Text 13"/>
          <p:cNvSpPr/>
          <p:nvPr/>
        </p:nvSpPr>
        <p:spPr>
          <a:xfrm>
            <a:off x="1016000" y="80264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PSO 在三个场景中保持较高的 Fitness 中位水平，标准差较低，说明多次随机种子运行下结果更稳定。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62000" y="87884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群体智能课程项目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3970000" y="87884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 / 16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B4F8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研究背景与问题提出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WSN覆盖模型设计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群体智能算法设计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7536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实验结果与可视化分析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0048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总结展望与团队分工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753600" y="558800"/>
            <a:ext cx="3251200" cy="50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7620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Irregular 场景可视化分析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D0D8E4"/>
          </a:solidFill>
          <a:ln/>
        </p:spPr>
      </p:sp>
      <p:pic>
        <p:nvPicPr>
          <p:cNvPr id="11" name="Image 0" descr="/api/kimi-static/__host/kimi-img.moonshot.cn/pub/slides/okc/fskqmzs4prvz6/mnt/agents/output/wsn_ppt/images/fig7_heat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2000" y="1447800"/>
            <a:ext cx="14732000" cy="5080000"/>
          </a:xfrm>
          <a:prstGeom prst="roundRect">
            <a:avLst>
              <a:gd name="adj" fmla="val 4000"/>
            </a:avLst>
          </a:prstGeom>
          <a:effectLst>
            <a:outerShdw sx="100000" sy="100000" kx="0" ky="0" algn="bl" rotWithShape="0" blurRad="127000" dist="50800" dir="5400000">
              <a:srgbClr val="000000">
                <a:alpha val="7059"/>
              </a:srgbClr>
            </a:outerShdw>
          </a:effectLst>
        </p:spPr>
      </p:pic>
      <p:sp>
        <p:nvSpPr>
          <p:cNvPr id="12" name="Shape 9"/>
          <p:cNvSpPr/>
          <p:nvPr/>
        </p:nvSpPr>
        <p:spPr>
          <a:xfrm>
            <a:off x="762000" y="6680200"/>
            <a:ext cx="14732000" cy="38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16000" y="6705600"/>
            <a:ext cx="1422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8080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灰色 = 障碍物　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C039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红色 = 传感器节点　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▓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颜色越深 = 覆盖次数越多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62000" y="75692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62000" y="7569200"/>
            <a:ext cx="63500" cy="1016000"/>
          </a:xfrm>
          <a:prstGeom prst="rect">
            <a:avLst/>
          </a:prstGeom>
          <a:solidFill>
            <a:srgbClr val="1B4F8F"/>
          </a:solidFill>
          <a:ln/>
        </p:spPr>
      </p:sp>
      <p:sp>
        <p:nvSpPr>
          <p:cNvPr id="16" name="Text 13"/>
          <p:cNvSpPr/>
          <p:nvPr/>
        </p:nvSpPr>
        <p:spPr>
          <a:xfrm>
            <a:off x="1016000" y="76454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本页结论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16000" y="7950200"/>
            <a:ext cx="14224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PSO 能在障碍物约束下形成较均匀的覆盖分布，但局部仍有重复覆盖，后续可通过冗余惩罚或多目标优化改善。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62000" y="87884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群体智能课程项目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3970000" y="87884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 / 16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B4F8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研究背景与问题提出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WSN覆盖模型设计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群体智能算法设计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7536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实验结果与可视化分析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004800" y="0"/>
            <a:ext cx="3251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总结展望与团队分工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004800" y="558800"/>
            <a:ext cx="3251200" cy="50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7620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总结、展望与分工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1473200"/>
            <a:ext cx="4699000" cy="431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922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16000" y="16002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项目成果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16000" y="2057400"/>
            <a:ext cx="4191000" cy="358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建立 WSN 网格化环境和二元感知模型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设计 Coverage、Redundancy、Connectivity 加权适应度函数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实现 PSO、GWO、WOA 及改进版本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完成 Hard、Medium、Irregular 三类场景 full 实验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PSO 在三个场景中取得最佳群体智能算法综合表现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715000" y="1473200"/>
            <a:ext cx="4699000" cy="431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922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69000" y="16002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团队分工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69000" y="2057400"/>
            <a:ext cx="4191000" cy="358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李杜若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WSN 覆盖模型搭建：网格化、二元感知模型、适应度函数、实验结果整理</a:t>
            </a:r>
            <a:endParaRPr lang="en-US" sz="14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王奕博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群体智能算法实现：PSO / GWO / WOA 及改进策略</a:t>
            </a:r>
            <a:endParaRPr lang="en-US" sz="14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韦世贸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可视化与对比实验：覆盖率图、热力图、收敛曲线、箱线图、结果分析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668000" y="1473200"/>
            <a:ext cx="4826000" cy="431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922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922000" y="1600200"/>
            <a:ext cx="431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未来展望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22000" y="2057400"/>
            <a:ext cx="4318000" cy="358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加入移动距离或能耗约束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引入真实地理区域和复杂障碍物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考虑节点失效与在线重部署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使用 NSGA-II 或多目标 PSO 直接处理多目标权衡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继续调参并开展消融实验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2000" y="59944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2000" y="5994400"/>
            <a:ext cx="63500" cy="1016000"/>
          </a:xfrm>
          <a:prstGeom prst="rect">
            <a:avLst/>
          </a:prstGeom>
          <a:solidFill>
            <a:srgbClr val="1B4F8F"/>
          </a:solidFill>
          <a:ln/>
        </p:spPr>
      </p:sp>
      <p:sp>
        <p:nvSpPr>
          <p:cNvPr id="22" name="Text 20"/>
          <p:cNvSpPr/>
          <p:nvPr/>
        </p:nvSpPr>
        <p:spPr>
          <a:xfrm>
            <a:off x="1016000" y="6096000"/>
            <a:ext cx="14224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改进算法说明：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B4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ImprovedPSO、ImprovedGWO、ImprovedWOA 未在所有场景稳定超过原算法。可能原因包括参数未充分调优、混沌初始化和变异增强探索但可能推迟收敛、当前问题规模下原始 PSO 已能较快找到较优解。改进策略更适合作为后续细调方向。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62000" y="7213600"/>
            <a:ext cx="14732000" cy="1270000"/>
          </a:xfrm>
          <a:prstGeom prst="roundRect">
            <a:avLst>
              <a:gd name="adj" fmla="val 6000"/>
            </a:avLst>
          </a:prstGeom>
          <a:solidFill>
            <a:srgbClr val="1B4F8F"/>
          </a:solidFill>
          <a:ln/>
          <a:effectLst>
            <a:outerShdw sx="100000" sy="100000" kx="0" ky="0" algn="bl" rotWithShape="0" blurRad="152400" dist="50800" dir="5400000">
              <a:srgbClr val="000000">
                <a:alpha val="10196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270000" y="7340600"/>
            <a:ext cx="13716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谢谢聆听，欢迎提问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1270000" y="7924800"/>
            <a:ext cx="1371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2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 FOR YOUR ATTENTION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62000" y="87884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群体智能课程项目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970000" y="87884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5A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 / 16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基于群体智能算法的无线传感器网络覆盖优化研究</dc:title>
  <dc:subject>基于群体智能算法的无线传感器网络覆盖优化研究</dc:subject>
  <dc:creator>Kimi</dc:creator>
  <cp:lastModifiedBy>Kimi</cp:lastModifiedBy>
  <cp:revision>1</cp:revision>
  <dcterms:created xsi:type="dcterms:W3CDTF">2026-06-17T18:09:05Z</dcterms:created>
  <dcterms:modified xsi:type="dcterms:W3CDTF">2026-06-17T18:09:05Z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基于群体智能算法的无线传感器网络覆盖优化研究","ContentProducer":"001191110108MACG2KBH8F10000","ProduceID":"19ed6b4a-43c2-85b9-8000-00008b987710","ReservedCode1":"","ContentPropagator":"001191110108MACG2KBH8F20000","PropagateID":"19ed6b27-86a2-87ca-8000-092e6926aae3","ReservedCode2":""}</vt:lpwstr>
  </property>
</Properties>
</file>